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things today: what we are using, how the pieces fit together, and how a team spread across five timezones actually ships something. Six slides, then questions.
IF ASKED: why has the platform changed more than once?
It has been stated three ways: a website, then app store apps, then a progressive web app. Only the third came with written confirmation from Product. Nothing was wasted because the database, the fever engine and the safety tests are pure logic and survived every change unchanged. Going forward the rule is written into the repository: any change to the target needs written confirmation from Product before engineering re-points anything.
IF ASKED: how far along are you?
End of week one of six. Slide six has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TypeScript everywhere, one repository, one place to deploy. There is no second language for anyone to learn and no second service to keep in sync. Supabase gives us the database, sign-in and file storage in one product instead of three, and Vercel gives us hosting and preview links for every change.
IF ASKED: why not a native app in the App Store?
Two paid developer accounts, an Apple review queue we do not control, and Google requires a fourteen day closed test before a new account can release. For a six week build that is weeks of waiting we cannot buy back. The trade we accept is discoverability. Nobody will find us by searching the App Store, but anyone can open a link.
IF ASKED: your AI people know Python. Why is there no Python service?
I drafted exactly that at first, and I was wrong about why. I assumed the backend group could not work in TypeScript. All three of them can. Once that is true, a second service only buys us integration risk. If we later need real retrieval with a vector store, that is the point to revisit it, and it can be added without unpicking anything else.
IF ASKED: what if OpenAI is down, or gets expensive?
The Ask tab degrades to a clear error. Nothing else in the app depends on it, and the fever checker in particular does not. We have a task in week four to project cost at beta scale before we open it to real parents.
IF ASKED: why Vercel and not AWS?
Vercel is the deploy target Next.js is built for, deploys take about forty seconds, and every pull request gets its own preview link. With eleven part-time people, being able to send someone a working link instead of asking them to run the code locally is worth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Read it left to right. The app runs in the browser. When it needs data or an AI answer it asks our own server on Vercel, and only our server talks to the database and to OpenAI.
Two things worth pointing at. First, the fever checker runs inside the app itself rather than on a server, so it cannot time out. Second, the OpenAI key lives only on our server. Those are the two decisions I would defend hardest in this whole design.
IF ASKED: why does the fever checker run on the phone rather than the server?
Because of when it gets used. A mother checking a temperature at two in the morning on bad wifi still gets an answer, because the answer never leaves the device. A network round trip can time out. A local calculation cannot. The baby's date of birth still comes from the database, so the app cannot invent an age, it can only use the one we gave it.
IF ASKED: is the AI giving medical advice?
No, and it is stopped from trying. Before any question reaches the model, it passes a guard that detects symptom questions and redirects them to the Fever Checker instead. That guard has its own tests, and in week one we are labelling two hundred real questions so we can measure how often it is right rather than assume it.
IF ASKED: what stops one parent seeing another parent's data?
Row level security in the database. Every private table has a rule tying each row to the account that owns it, so it is enforced by the database itself rather than by our code remembering to check. We have automated tests for it in week two and a deliberate attempt to break it in week six.
IF ASKED: could the OpenAI key leak?
Not from the app. Anything shipped to a browser can be read, which is exactly why the key is not there. It sits in server configuration, and the app calls our route rather than calling OpenAI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team spans twelve and a half hours, from California to India. Combined with everyone's stated availability there is no single hour in the week when all eleven can be online. Not one. That is not a scheduling problem to solve harder, it is a constraint to design around.
So pods are grouped by timezone rather than by seniority, each pod has one named person who bridges to the others, and the interfaces between pods freeze at the end of week one so nobody sits waiting on somebody else's code. The best overlap window we have is 8:30 in the morning my time, which is 9pm in India, and we protect it with a twenty minute sync every day.
IF ASKED: how do you know people are actually making progress?
Ninety tasks on a board, every one with an owner, a week and a written description. Work arrives as pull requests that need a review and three passing checks before they merge, so progress is visible without anyone reporting on themselves.
IF ASKED: what happens if someone drops out or goes quiet?
Scope was allocated against stated availability rather than evenly. The people with the least time and the least overlap have the most self-contained work, so losing one of them does not stall anybody else. One roster spot is still unconfirmed and their tasks are the most reassignable ones on the board.
IF ASKED: is anyone overloaded?
The two people carrying the most are in the platform pod, and that is deliberate, because that pod unblocks everyone else. The person with morning-only availability has UI work split with a teammate rather than stacked on her.
IF ASKED: does everyone come to the all hands?
No, and that is fine. The slot lands outside three people's stated working hours. It is the least bad option, not a good one. It is recorded, and every decision is written into the repository the same day, so missing it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Weeks one to three build the parts that need no outside approval. Weeks four and five are the two features with the most product judgement in them. Week six is hardening, a beta with real parents, and launch.
The one change I would highlight is moving the fever rules from week six to week three. The original plan wrote them last, which would have put a doctor's calendar on the critical path four days before the demo. Writing them in week three means clinical review runs alongside weeks four, five and six instead of blocking the finish.
IF ASKED: is six weeks realistic?
It is roughly seven hundred real engineer hours. That is a genuine minimum viable product, but only if we do not spend it on rework. That is why week one went on decisions and documentation. The tech stack document, the design prototype and the master sheet disagreed in thirteen places, and every one of those is a place two people could have built different things.
IF ASKED: what gets cut first if you fall behind?
In order: product recommendations, the saved-articles part of Learn, and the fourth development domain in Track. The Fever Checker, the milestone tracker and sign-in are the things that must be there. Nothing on that cut list touches safety.
IF ASKED: what has already been cut?
Pregnancy, which was in the prototype, is out of version one. It roughly doubles the content and adds a maternal safety review we have nobody to do. And Health is the Fever Checker only rather than a library of symptoms, because every symptom topic needs a clinician to sign it.
IF ASKED: what if the clinical reviewer takes three weeks to find?
The build does not stop. Everything except the Health tab ships on schedule. What we lose is the ability to put the Fever Checker in front of real parents, and that is exactly why I am asking for it now rather than in week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repository is live and protected. Nothing reaches the main branch without a review and three passing checks. Ninety tasks are on the board with owners and descriptions, the database schema is applied, and the safety tests are green. Developers pick up their first tickets this week.
These three items need a person rather than code. None of them blocks us this week. All three block the demo. The one I want a name and a date for today is the clinical reviewer.
IF ASKED: why do we need a pediatrician at all, is the code not correct?
The structure is correct and it is proved by testing every combination of age, temperature and measurement method rather than a few examples. What a clinician signs is the numbers. Every threshold in it is an engineering placeholder taken from published guidance, and none of us is qualified to confirm them. I am not comfortable putting triage advice in front of a frightened parent on my own authority.
IF ASKED: can we demo without the clinical sign-off?
To this group, yes, with the Health tab clearly marked as not yet reviewed. To real parents, no. That line is not negotiable and it should not be me holding it alone.
IF ASKED: what is the legal exposure?
We store health information about real infants under real accounts. Whether that triggers obligations under children's privacy or health privacy rules is a lawyer's question, not mine. Technically we are in reasonable shape: US region, every private table locked to its owner, no payment data anywhere. What we do not have is anyone confirming we are allowed to hold it at all.
IF ASKED: what does the infrastructure actually cost?
Hosting and the database sit in the low tens of dollars a month at this scale. The variable one is OpenAI usage, which depends on how much people use the Ask tab, and we have a task in week four to project that at beta scale before we open it up. What is missing is not the money, it is an owner and a card.
IF ASKED: what is the single biggest risk?
Not the code. It is that the target changes again. The plan is written down now, and any change to it needs written confirmation from Product before we re-point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34"/>
        </a:solidFill>
      </p:bgPr>
    </p:bg>
    <p:spTree>
      <p:nvGrpSpPr>
        <p:cNvPr id="1" name=""/>
        <p:cNvGrpSpPr/>
        <p:nvPr/>
      </p:nvGrpSpPr>
      <p:grpSpPr>
        <a:xfrm>
          <a:off x="0" y="0"/>
          <a:ext cx="0" cy="0"/>
          <a:chOff x="0" y="0"/>
          <a:chExt cx="0" cy="0"/>
        </a:xfrm>
      </p:grpSpPr>
      <p:sp>
        <p:nvSpPr>
          <p:cNvPr id="2" name="Shape 0"/>
          <p:cNvSpPr/>
          <p:nvPr/>
        </p:nvSpPr>
        <p:spPr>
          <a:xfrm>
            <a:off x="7132320" y="-1005840"/>
            <a:ext cx="3291840" cy="3291840"/>
          </a:xfrm>
          <a:prstGeom prst="ellipse">
            <a:avLst/>
          </a:prstGeom>
          <a:solidFill>
            <a:srgbClr val="7CA893">
              <a:alpha val="22000"/>
            </a:srgbClr>
          </a:solidFill>
          <a:ln w="12700">
            <a:solidFill>
              <a:srgbClr val="333333"/>
            </a:solidFill>
            <a:prstDash val="solid"/>
          </a:ln>
        </p:spPr>
      </p:sp>
      <p:sp>
        <p:nvSpPr>
          <p:cNvPr id="3" name="Shape 1"/>
          <p:cNvSpPr/>
          <p:nvPr/>
        </p:nvSpPr>
        <p:spPr>
          <a:xfrm>
            <a:off x="8138160" y="3017520"/>
            <a:ext cx="2011680" cy="2011680"/>
          </a:xfrm>
          <a:prstGeom prst="ellipse">
            <a:avLst/>
          </a:prstGeom>
          <a:solidFill>
            <a:srgbClr val="E07A5F">
              <a:alpha val="18000"/>
            </a:srgbClr>
          </a:solidFill>
          <a:ln w="12700">
            <a:solidFill>
              <a:srgbClr val="333333"/>
            </a:solidFill>
            <a:prstDash val="solid"/>
          </a:ln>
        </p:spPr>
      </p:sp>
      <p:sp>
        <p:nvSpPr>
          <p:cNvPr id="4" name="Text 2"/>
          <p:cNvSpPr txBox="1"/>
          <p:nvPr/>
        </p:nvSpPr>
        <p:spPr>
          <a:xfrm>
            <a:off x="640080" y="1371600"/>
            <a:ext cx="6400800"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BumpToBloom</a:t>
            </a:r>
            <a:endParaRPr lang="en-US" sz="4400" dirty="0"/>
          </a:p>
        </p:txBody>
      </p:sp>
      <p:sp>
        <p:nvSpPr>
          <p:cNvPr id="5" name="Text 3"/>
          <p:cNvSpPr txBox="1"/>
          <p:nvPr/>
        </p:nvSpPr>
        <p:spPr>
          <a:xfrm>
            <a:off x="640080" y="2194560"/>
            <a:ext cx="6583680" cy="685800"/>
          </a:xfrm>
          <a:prstGeom prst="rect">
            <a:avLst/>
          </a:prstGeom>
          <a:noFill/>
          <a:ln/>
        </p:spPr>
        <p:txBody>
          <a:bodyPr wrap="square" lIns="0" tIns="0" rIns="0" bIns="0" rtlCol="0" anchor="ctr"/>
          <a:lstStyle/>
          <a:p>
            <a:pPr indent="0" marL="0">
              <a:buNone/>
            </a:pPr>
            <a:r>
              <a:rPr lang="en-US" sz="1700" dirty="0">
                <a:solidFill>
                  <a:srgbClr val="C8DCD2"/>
                </a:solidFill>
                <a:latin typeface="Calibri" pitchFamily="34" charset="0"/>
                <a:ea typeface="Calibri" pitchFamily="34" charset="-122"/>
                <a:cs typeface="Calibri" pitchFamily="34" charset="-120"/>
              </a:rPr>
              <a:t>The stack, the architecture, and how eleven people build it in six weeks</a:t>
            </a:r>
            <a:endParaRPr lang="en-US" sz="1700" dirty="0"/>
          </a:p>
        </p:txBody>
      </p:sp>
      <p:sp>
        <p:nvSpPr>
          <p:cNvPr id="6" name="Text 4"/>
          <p:cNvSpPr txBox="1"/>
          <p:nvPr/>
        </p:nvSpPr>
        <p:spPr>
          <a:xfrm>
            <a:off x="640080" y="4069080"/>
            <a:ext cx="6400800" cy="320040"/>
          </a:xfrm>
          <a:prstGeom prst="rect">
            <a:avLst/>
          </a:prstGeom>
          <a:noFill/>
          <a:ln/>
        </p:spPr>
        <p:txBody>
          <a:bodyPr wrap="square" lIns="0" tIns="0" rIns="0" bIns="0" rtlCol="0" anchor="ctr"/>
          <a:lstStyle/>
          <a:p>
            <a:pPr indent="0" marL="0">
              <a:buNone/>
            </a:pPr>
            <a:r>
              <a:rPr lang="en-US" sz="1200" dirty="0">
                <a:solidFill>
                  <a:srgbClr val="7CA893"/>
                </a:solidFill>
                <a:latin typeface="Calibri" pitchFamily="34" charset="0"/>
                <a:ea typeface="Calibri" pitchFamily="34" charset="-122"/>
                <a:cs typeface="Calibri" pitchFamily="34" charset="-120"/>
              </a:rPr>
              <a:t>Sonakshi Panda  ·  Lead Engineer  ·  29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3A34"/>
                </a:solidFill>
                <a:latin typeface="Cambria" pitchFamily="34" charset="0"/>
                <a:ea typeface="Cambria" pitchFamily="34" charset="-122"/>
                <a:cs typeface="Cambria" pitchFamily="34" charset="-120"/>
              </a:rPr>
              <a:t>The stack</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783080"/>
                <a:gridCol w="2514600"/>
                <a:gridCol w="393192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1E3A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we use</a:t>
                      </a:r>
                      <a:endParaRPr lang="en-US" sz="120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1E3A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1E3A34"/>
                    </a:solidFill>
                  </a:tcPr>
                </a:tc>
              </a:tr>
              <a:tr h="365760">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The app</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Next.js 15 + TypeScript</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Draws every screen, on a phone and on a laptop</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Look and feel</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Tailwind + shadcn/ui</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A shared component kit, so eleven people build matching screens</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Server logic</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Next.js API routes</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Our own backend code, same language, same deploy</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Database + sign-in</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Supabase (Postgres)</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US region. Every row is locked to the account that owns it</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AI</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OpenAI API</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Powers the Ask tab. Called only from our server</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Install + offline</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Web manifest + service worker</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Adds to the home screen and works with no network</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Hosting + checks</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Vercel + GitHub Actions</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c>
                  <a:txBody>
                    <a:bodyPr/>
                    <a:lstStyle/>
                    <a:p>
                      <a:pPr indent="0" marL="0">
                        <a:buNone/>
                      </a:pPr>
                      <a:r>
                        <a:rPr lang="en-US" sz="1150" dirty="0">
                          <a:solidFill>
                            <a:srgbClr val="1E3A34"/>
                          </a:solidFill>
                          <a:latin typeface="Calibri" pitchFamily="34" charset="0"/>
                          <a:ea typeface="Calibri" pitchFamily="34" charset="-122"/>
                          <a:cs typeface="Calibri" pitchFamily="34" charset="-120"/>
                        </a:rPr>
                        <a:t>Deploys in about 40 seconds. Tests must pass before merge</a:t>
                      </a:r>
                      <a:endParaRPr lang="en-US" sz="1150" dirty="0">
                        <a:latin typeface="Calibri" charset="0"/>
                        <a:ea typeface="Calibri" charset="0"/>
                        <a:cs typeface="Calibri" charset="0"/>
                      </a:endParaRPr>
                    </a:p>
                  </a:txBody>
                  <a:tcPr marL="101600" marR="101600" marT="50800" marB="50800" anchor="ctr">
                    <a:lnL w="12700" cap="flat" cmpd="sng" algn="ctr">
                      <a:solidFill>
                        <a:srgbClr val="DDE6E2"/>
                      </a:solidFill>
                      <a:prstDash val="solid"/>
                      <a:round/>
                      <a:headEnd type="none" w="med" len="med"/>
                      <a:tailEnd type="none" w="med" len="med"/>
                    </a:lnL>
                    <a:lnR w="12700" cap="flat" cmpd="sng" algn="ctr">
                      <a:solidFill>
                        <a:srgbClr val="DDE6E2"/>
                      </a:solidFill>
                      <a:prstDash val="solid"/>
                      <a:round/>
                      <a:headEnd type="none" w="med" len="med"/>
                      <a:tailEnd type="none" w="med" len="med"/>
                    </a:lnR>
                    <a:lnT w="12700" cap="flat" cmpd="sng" algn="ctr">
                      <a:solidFill>
                        <a:srgbClr val="DDE6E2"/>
                      </a:solidFill>
                      <a:prstDash val="solid"/>
                      <a:round/>
                      <a:headEnd type="none" w="med" len="med"/>
                      <a:tailEnd type="none" w="med" len="med"/>
                    </a:lnT>
                    <a:lnB w="12700" cap="flat" cmpd="sng" algn="ctr">
                      <a:solidFill>
                        <a:srgbClr val="DDE6E2"/>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1250" i="1" dirty="0">
                <a:solidFill>
                  <a:srgbClr val="E07A5F"/>
                </a:solidFill>
                <a:latin typeface="Calibri" pitchFamily="34" charset="0"/>
                <a:ea typeface="Calibri" pitchFamily="34" charset="-122"/>
                <a:cs typeface="Calibri" pitchFamily="34" charset="-120"/>
              </a:rPr>
              <a:t>It is a progressive web app. That means one codebase, opened from a link, that also installs to a home screen like a normal app.</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3A34"/>
                </a:solidFill>
                <a:latin typeface="Cambria" pitchFamily="34" charset="0"/>
                <a:ea typeface="Cambria" pitchFamily="34" charset="-122"/>
                <a:cs typeface="Cambria" pitchFamily="34" charset="-120"/>
              </a:rPr>
              <a:t>How the pieces fit</a:t>
            </a:r>
            <a:endParaRPr lang="en-US" sz="3000" dirty="0"/>
          </a:p>
        </p:txBody>
      </p:sp>
      <p:sp>
        <p:nvSpPr>
          <p:cNvPr id="3" name="Shape 1"/>
          <p:cNvSpPr/>
          <p:nvPr/>
        </p:nvSpPr>
        <p:spPr>
          <a:xfrm>
            <a:off x="457200" y="1371600"/>
            <a:ext cx="2468880" cy="1234440"/>
          </a:xfrm>
          <a:prstGeom prst="roundRect">
            <a:avLst>
              <a:gd name="adj" fmla="val 5926"/>
            </a:avLst>
          </a:prstGeom>
          <a:solidFill>
            <a:srgbClr val="EEF4F1"/>
          </a:solidFill>
          <a:ln w="12700">
            <a:solidFill>
              <a:srgbClr val="EEF4F1"/>
            </a:solidFill>
            <a:prstDash val="solid"/>
          </a:ln>
        </p:spPr>
      </p:sp>
      <p:sp>
        <p:nvSpPr>
          <p:cNvPr id="4" name="Text 2"/>
          <p:cNvSpPr txBox="1"/>
          <p:nvPr/>
        </p:nvSpPr>
        <p:spPr>
          <a:xfrm>
            <a:off x="457200" y="1536192"/>
            <a:ext cx="2468880" cy="292608"/>
          </a:xfrm>
          <a:prstGeom prst="rect">
            <a:avLst/>
          </a:prstGeom>
          <a:noFill/>
          <a:ln/>
        </p:spPr>
        <p:txBody>
          <a:bodyPr wrap="square" lIns="0" tIns="0" rIns="0" bIns="0" rtlCol="0" anchor="ctr"/>
          <a:lstStyle/>
          <a:p>
            <a:pPr algn="ctr" indent="0" marL="0">
              <a:buNone/>
            </a:pPr>
            <a:r>
              <a:rPr lang="en-US" sz="1500" b="1" dirty="0">
                <a:solidFill>
                  <a:srgbClr val="1E3A34"/>
                </a:solidFill>
                <a:latin typeface="Calibri" pitchFamily="34" charset="0"/>
                <a:ea typeface="Calibri" pitchFamily="34" charset="-122"/>
                <a:cs typeface="Calibri" pitchFamily="34" charset="-120"/>
              </a:rPr>
              <a:t>Phone or laptop</a:t>
            </a:r>
            <a:endParaRPr lang="en-US" sz="1500" dirty="0"/>
          </a:p>
        </p:txBody>
      </p:sp>
      <p:sp>
        <p:nvSpPr>
          <p:cNvPr id="5" name="Text 3"/>
          <p:cNvSpPr txBox="1"/>
          <p:nvPr/>
        </p:nvSpPr>
        <p:spPr>
          <a:xfrm>
            <a:off x="457200" y="1874520"/>
            <a:ext cx="2468880" cy="274320"/>
          </a:xfrm>
          <a:prstGeom prst="rect">
            <a:avLst/>
          </a:prstGeom>
          <a:noFill/>
          <a:ln/>
        </p:spPr>
        <p:txBody>
          <a:bodyPr wrap="square" lIns="0" tIns="0" rIns="0" bIns="0" rtlCol="0" anchor="ctr"/>
          <a:lstStyle/>
          <a:p>
            <a:pPr algn="ctr" indent="0" marL="0">
              <a:buNone/>
            </a:pPr>
            <a:r>
              <a:rPr lang="en-US" sz="1150" dirty="0">
                <a:solidFill>
                  <a:srgbClr val="5A6B66"/>
                </a:solidFill>
                <a:latin typeface="Calibri" pitchFamily="34" charset="0"/>
                <a:ea typeface="Calibri" pitchFamily="34" charset="-122"/>
                <a:cs typeface="Calibri" pitchFamily="34" charset="-120"/>
              </a:rPr>
              <a:t>The app, in the browser</a:t>
            </a:r>
            <a:endParaRPr lang="en-US" sz="1150" dirty="0"/>
          </a:p>
        </p:txBody>
      </p:sp>
      <p:sp>
        <p:nvSpPr>
          <p:cNvPr id="6" name="Text 4"/>
          <p:cNvSpPr txBox="1"/>
          <p:nvPr/>
        </p:nvSpPr>
        <p:spPr>
          <a:xfrm>
            <a:off x="457200" y="2139696"/>
            <a:ext cx="2468880" cy="274320"/>
          </a:xfrm>
          <a:prstGeom prst="rect">
            <a:avLst/>
          </a:prstGeom>
          <a:noFill/>
          <a:ln/>
        </p:spPr>
        <p:txBody>
          <a:bodyPr wrap="square" lIns="0" tIns="0" rIns="0" bIns="0" rtlCol="0" anchor="ctr"/>
          <a:lstStyle/>
          <a:p>
            <a:pPr algn="ctr" indent="0" marL="0">
              <a:buNone/>
            </a:pPr>
            <a:r>
              <a:rPr lang="en-US" sz="1150" b="1" dirty="0">
                <a:solidFill>
                  <a:srgbClr val="E07A5F"/>
                </a:solidFill>
                <a:latin typeface="Calibri" pitchFamily="34" charset="0"/>
                <a:ea typeface="Calibri" pitchFamily="34" charset="-122"/>
                <a:cs typeface="Calibri" pitchFamily="34" charset="-120"/>
              </a:rPr>
              <a:t>+ the fever checker</a:t>
            </a:r>
            <a:endParaRPr lang="en-US" sz="1150" dirty="0"/>
          </a:p>
        </p:txBody>
      </p:sp>
      <p:sp>
        <p:nvSpPr>
          <p:cNvPr id="7" name="Shape 5"/>
          <p:cNvSpPr/>
          <p:nvPr/>
        </p:nvSpPr>
        <p:spPr>
          <a:xfrm>
            <a:off x="3657600" y="1371600"/>
            <a:ext cx="2194560" cy="1234440"/>
          </a:xfrm>
          <a:prstGeom prst="roundRect">
            <a:avLst>
              <a:gd name="adj" fmla="val 5926"/>
            </a:avLst>
          </a:prstGeom>
          <a:solidFill>
            <a:srgbClr val="1E3A34"/>
          </a:solidFill>
          <a:ln w="12700">
            <a:solidFill>
              <a:srgbClr val="1E3A34"/>
            </a:solidFill>
            <a:prstDash val="solid"/>
          </a:ln>
        </p:spPr>
      </p:sp>
      <p:sp>
        <p:nvSpPr>
          <p:cNvPr id="8" name="Text 6"/>
          <p:cNvSpPr txBox="1"/>
          <p:nvPr/>
        </p:nvSpPr>
        <p:spPr>
          <a:xfrm>
            <a:off x="3657600" y="1600200"/>
            <a:ext cx="2194560"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Vercel</a:t>
            </a:r>
            <a:endParaRPr lang="en-US" sz="1500" dirty="0"/>
          </a:p>
        </p:txBody>
      </p:sp>
      <p:sp>
        <p:nvSpPr>
          <p:cNvPr id="9" name="Text 7"/>
          <p:cNvSpPr txBox="1"/>
          <p:nvPr/>
        </p:nvSpPr>
        <p:spPr>
          <a:xfrm>
            <a:off x="3657600" y="1938528"/>
            <a:ext cx="2194560" cy="548640"/>
          </a:xfrm>
          <a:prstGeom prst="rect">
            <a:avLst/>
          </a:prstGeom>
          <a:noFill/>
          <a:ln/>
        </p:spPr>
        <p:txBody>
          <a:bodyPr wrap="square" lIns="0" tIns="0" rIns="0" bIns="0" rtlCol="0" anchor="ctr"/>
          <a:lstStyle/>
          <a:p>
            <a:pPr algn="ctr" indent="0" marL="0">
              <a:buNone/>
            </a:pPr>
            <a:r>
              <a:rPr lang="en-US" sz="1150" dirty="0">
                <a:solidFill>
                  <a:srgbClr val="C8DCD2"/>
                </a:solidFill>
                <a:latin typeface="Calibri" pitchFamily="34" charset="0"/>
                <a:ea typeface="Calibri" pitchFamily="34" charset="-122"/>
                <a:cs typeface="Calibri" pitchFamily="34" charset="-120"/>
              </a:rPr>
              <a:t>Our Next.js server</a:t>
            </a:r>
            <a:endParaRPr lang="en-US" sz="1150" dirty="0"/>
          </a:p>
          <a:p>
            <a:pPr algn="ctr" indent="0" marL="0">
              <a:buNone/>
            </a:pPr>
            <a:r>
              <a:rPr lang="en-US" sz="1150" dirty="0">
                <a:solidFill>
                  <a:srgbClr val="C8DCD2"/>
                </a:solidFill>
                <a:latin typeface="Calibri" pitchFamily="34" charset="0"/>
                <a:ea typeface="Calibri" pitchFamily="34" charset="-122"/>
                <a:cs typeface="Calibri" pitchFamily="34" charset="-120"/>
              </a:rPr>
              <a:t>and API routes</a:t>
            </a:r>
            <a:endParaRPr lang="en-US" sz="1150" dirty="0"/>
          </a:p>
        </p:txBody>
      </p:sp>
      <p:sp>
        <p:nvSpPr>
          <p:cNvPr id="10" name="Shape 8"/>
          <p:cNvSpPr/>
          <p:nvPr/>
        </p:nvSpPr>
        <p:spPr>
          <a:xfrm>
            <a:off x="6583680" y="1371600"/>
            <a:ext cx="2103120" cy="548640"/>
          </a:xfrm>
          <a:prstGeom prst="roundRect">
            <a:avLst>
              <a:gd name="adj" fmla="val 13333"/>
            </a:avLst>
          </a:prstGeom>
          <a:solidFill>
            <a:srgbClr val="EEF4F1"/>
          </a:solidFill>
          <a:ln w="12700">
            <a:solidFill>
              <a:srgbClr val="EEF4F1"/>
            </a:solidFill>
            <a:prstDash val="solid"/>
          </a:ln>
        </p:spPr>
      </p:sp>
      <p:sp>
        <p:nvSpPr>
          <p:cNvPr id="11" name="Text 9"/>
          <p:cNvSpPr txBox="1"/>
          <p:nvPr/>
        </p:nvSpPr>
        <p:spPr>
          <a:xfrm>
            <a:off x="6583680" y="1371600"/>
            <a:ext cx="2103120" cy="548640"/>
          </a:xfrm>
          <a:prstGeom prst="rect">
            <a:avLst/>
          </a:prstGeom>
          <a:noFill/>
          <a:ln/>
        </p:spPr>
        <p:txBody>
          <a:bodyPr wrap="square" lIns="0" tIns="0" rIns="0" bIns="0" rtlCol="0" anchor="ctr"/>
          <a:lstStyle/>
          <a:p>
            <a:pPr algn="ctr" indent="0" marL="0">
              <a:buNone/>
            </a:pPr>
            <a:r>
              <a:rPr lang="en-US" sz="1400" b="1" dirty="0">
                <a:solidFill>
                  <a:srgbClr val="1E3A34"/>
                </a:solidFill>
                <a:latin typeface="Calibri" pitchFamily="34" charset="0"/>
                <a:ea typeface="Calibri" pitchFamily="34" charset="-122"/>
                <a:cs typeface="Calibri" pitchFamily="34" charset="-120"/>
              </a:rPr>
              <a:t>Supabase</a:t>
            </a:r>
            <a:endParaRPr lang="en-US" sz="1400" dirty="0"/>
          </a:p>
        </p:txBody>
      </p:sp>
      <p:sp>
        <p:nvSpPr>
          <p:cNvPr id="12" name="Shape 10"/>
          <p:cNvSpPr/>
          <p:nvPr/>
        </p:nvSpPr>
        <p:spPr>
          <a:xfrm>
            <a:off x="6583680" y="2057400"/>
            <a:ext cx="2103120" cy="548640"/>
          </a:xfrm>
          <a:prstGeom prst="roundRect">
            <a:avLst>
              <a:gd name="adj" fmla="val 13333"/>
            </a:avLst>
          </a:prstGeom>
          <a:solidFill>
            <a:srgbClr val="EEF4F1"/>
          </a:solidFill>
          <a:ln w="12700">
            <a:solidFill>
              <a:srgbClr val="EEF4F1"/>
            </a:solidFill>
            <a:prstDash val="solid"/>
          </a:ln>
        </p:spPr>
      </p:sp>
      <p:sp>
        <p:nvSpPr>
          <p:cNvPr id="13" name="Text 11"/>
          <p:cNvSpPr txBox="1"/>
          <p:nvPr/>
        </p:nvSpPr>
        <p:spPr>
          <a:xfrm>
            <a:off x="6583680" y="2057400"/>
            <a:ext cx="2103120" cy="548640"/>
          </a:xfrm>
          <a:prstGeom prst="rect">
            <a:avLst/>
          </a:prstGeom>
          <a:noFill/>
          <a:ln/>
        </p:spPr>
        <p:txBody>
          <a:bodyPr wrap="square" lIns="0" tIns="0" rIns="0" bIns="0" rtlCol="0" anchor="ctr"/>
          <a:lstStyle/>
          <a:p>
            <a:pPr algn="ctr" indent="0" marL="0">
              <a:buNone/>
            </a:pPr>
            <a:r>
              <a:rPr lang="en-US" sz="1400" b="1" dirty="0">
                <a:solidFill>
                  <a:srgbClr val="1E3A34"/>
                </a:solidFill>
                <a:latin typeface="Calibri" pitchFamily="34" charset="0"/>
                <a:ea typeface="Calibri" pitchFamily="34" charset="-122"/>
                <a:cs typeface="Calibri" pitchFamily="34" charset="-120"/>
              </a:rPr>
              <a:t>OpenAI</a:t>
            </a:r>
            <a:endParaRPr lang="en-US" sz="1400" dirty="0"/>
          </a:p>
        </p:txBody>
      </p:sp>
      <p:sp>
        <p:nvSpPr>
          <p:cNvPr id="14" name="Shape 12"/>
          <p:cNvSpPr/>
          <p:nvPr/>
        </p:nvSpPr>
        <p:spPr>
          <a:xfrm>
            <a:off x="2999232" y="1984248"/>
            <a:ext cx="548640" cy="0"/>
          </a:xfrm>
          <a:prstGeom prst="line">
            <a:avLst/>
          </a:prstGeom>
          <a:noFill/>
          <a:ln w="25400">
            <a:solidFill>
              <a:srgbClr val="7CA893"/>
            </a:solidFill>
            <a:prstDash val="solid"/>
            <a:tailEnd type="triangle"/>
          </a:ln>
        </p:spPr>
      </p:sp>
      <p:sp>
        <p:nvSpPr>
          <p:cNvPr id="15" name="Shape 13"/>
          <p:cNvSpPr/>
          <p:nvPr/>
        </p:nvSpPr>
        <p:spPr>
          <a:xfrm>
            <a:off x="5925312" y="1645920"/>
            <a:ext cx="548640" cy="0"/>
          </a:xfrm>
          <a:prstGeom prst="line">
            <a:avLst/>
          </a:prstGeom>
          <a:noFill/>
          <a:ln w="25400">
            <a:solidFill>
              <a:srgbClr val="7CA893"/>
            </a:solidFill>
            <a:prstDash val="solid"/>
            <a:tailEnd type="triangle"/>
          </a:ln>
        </p:spPr>
      </p:sp>
      <p:sp>
        <p:nvSpPr>
          <p:cNvPr id="16" name="Shape 14"/>
          <p:cNvSpPr/>
          <p:nvPr/>
        </p:nvSpPr>
        <p:spPr>
          <a:xfrm>
            <a:off x="5925312" y="2331720"/>
            <a:ext cx="548640" cy="0"/>
          </a:xfrm>
          <a:prstGeom prst="line">
            <a:avLst/>
          </a:prstGeom>
          <a:noFill/>
          <a:ln w="25400">
            <a:solidFill>
              <a:srgbClr val="7CA893"/>
            </a:solidFill>
            <a:prstDash val="solid"/>
            <a:tailEnd type="triangle"/>
          </a:ln>
        </p:spPr>
      </p:sp>
      <p:sp>
        <p:nvSpPr>
          <p:cNvPr id="17" name="Text 15"/>
          <p:cNvSpPr txBox="1"/>
          <p:nvPr/>
        </p:nvSpPr>
        <p:spPr>
          <a:xfrm>
            <a:off x="457200" y="2788920"/>
            <a:ext cx="2468880" cy="777240"/>
          </a:xfrm>
          <a:prstGeom prst="rect">
            <a:avLst/>
          </a:prstGeom>
          <a:noFill/>
          <a:ln/>
        </p:spPr>
        <p:txBody>
          <a:bodyPr wrap="square" lIns="0" tIns="0" rIns="0" bIns="0" rtlCol="0" anchor="t"/>
          <a:lstStyle/>
          <a:p>
            <a:pPr indent="0" marL="0">
              <a:lnSpc>
                <a:spcPct val="110000"/>
              </a:lnSpc>
              <a:buNone/>
            </a:pPr>
            <a:r>
              <a:rPr lang="en-US" sz="1100" dirty="0">
                <a:solidFill>
                  <a:srgbClr val="5A6B66"/>
                </a:solidFill>
                <a:latin typeface="Calibri" pitchFamily="34" charset="0"/>
                <a:ea typeface="Calibri" pitchFamily="34" charset="-122"/>
                <a:cs typeface="Calibri" pitchFamily="34" charset="-120"/>
              </a:rPr>
              <a:t>Triage runs here, on the device, so a mother on bad wifi at two in the morning still gets an answer.</a:t>
            </a:r>
            <a:endParaRPr lang="en-US" sz="1100" dirty="0"/>
          </a:p>
        </p:txBody>
      </p:sp>
      <p:sp>
        <p:nvSpPr>
          <p:cNvPr id="18" name="Text 16"/>
          <p:cNvSpPr txBox="1"/>
          <p:nvPr/>
        </p:nvSpPr>
        <p:spPr>
          <a:xfrm>
            <a:off x="3383280" y="2788920"/>
            <a:ext cx="2743200" cy="777240"/>
          </a:xfrm>
          <a:prstGeom prst="rect">
            <a:avLst/>
          </a:prstGeom>
          <a:noFill/>
          <a:ln/>
        </p:spPr>
        <p:txBody>
          <a:bodyPr wrap="square" lIns="0" tIns="0" rIns="0" bIns="0" rtlCol="0" anchor="t"/>
          <a:lstStyle/>
          <a:p>
            <a:pPr indent="0" marL="0">
              <a:lnSpc>
                <a:spcPct val="110000"/>
              </a:lnSpc>
              <a:buNone/>
            </a:pPr>
            <a:r>
              <a:rPr lang="en-US" sz="1100" dirty="0">
                <a:solidFill>
                  <a:srgbClr val="5A6B66"/>
                </a:solidFill>
                <a:latin typeface="Calibri" pitchFamily="34" charset="0"/>
                <a:ea typeface="Calibri" pitchFamily="34" charset="-122"/>
                <a:cs typeface="Calibri" pitchFamily="34" charset="-120"/>
              </a:rPr>
              <a:t>The OpenAI key lives only here. It is never sent to a browser, where anyone could lift it.</a:t>
            </a:r>
            <a:endParaRPr lang="en-US" sz="1100" dirty="0"/>
          </a:p>
        </p:txBody>
      </p:sp>
      <p:sp>
        <p:nvSpPr>
          <p:cNvPr id="19" name="Text 17"/>
          <p:cNvSpPr txBox="1"/>
          <p:nvPr/>
        </p:nvSpPr>
        <p:spPr>
          <a:xfrm>
            <a:off x="6400800" y="2788920"/>
            <a:ext cx="2286000" cy="777240"/>
          </a:xfrm>
          <a:prstGeom prst="rect">
            <a:avLst/>
          </a:prstGeom>
          <a:noFill/>
          <a:ln/>
        </p:spPr>
        <p:txBody>
          <a:bodyPr wrap="square" lIns="0" tIns="0" rIns="0" bIns="0" rtlCol="0" anchor="t"/>
          <a:lstStyle/>
          <a:p>
            <a:pPr indent="0" marL="0">
              <a:lnSpc>
                <a:spcPct val="110000"/>
              </a:lnSpc>
              <a:buNone/>
            </a:pPr>
            <a:r>
              <a:rPr lang="en-US" sz="1100" dirty="0">
                <a:solidFill>
                  <a:srgbClr val="5A6B66"/>
                </a:solidFill>
                <a:latin typeface="Calibri" pitchFamily="34" charset="0"/>
                <a:ea typeface="Calibri" pitchFamily="34" charset="-122"/>
                <a:cs typeface="Calibri" pitchFamily="34" charset="-120"/>
              </a:rPr>
              <a:t>Postgres, sign-in and file storage. Answers for the Ask tab.</a:t>
            </a:r>
            <a:endParaRPr lang="en-US" sz="1100" dirty="0"/>
          </a:p>
        </p:txBody>
      </p:sp>
      <p:sp>
        <p:nvSpPr>
          <p:cNvPr id="20" name="Shape 18"/>
          <p:cNvSpPr/>
          <p:nvPr/>
        </p:nvSpPr>
        <p:spPr>
          <a:xfrm>
            <a:off x="457200" y="3749040"/>
            <a:ext cx="8229600" cy="777240"/>
          </a:xfrm>
          <a:prstGeom prst="roundRect">
            <a:avLst>
              <a:gd name="adj" fmla="val 9412"/>
            </a:avLst>
          </a:prstGeom>
          <a:solidFill>
            <a:srgbClr val="F2F2F0"/>
          </a:solidFill>
          <a:ln w="12700">
            <a:solidFill>
              <a:srgbClr val="F2F2F0"/>
            </a:solidFill>
            <a:prstDash val="solid"/>
          </a:ln>
        </p:spPr>
      </p:sp>
      <p:sp>
        <p:nvSpPr>
          <p:cNvPr id="21" name="Text 19"/>
          <p:cNvSpPr txBox="1"/>
          <p:nvPr/>
        </p:nvSpPr>
        <p:spPr>
          <a:xfrm>
            <a:off x="731520" y="3749040"/>
            <a:ext cx="7680960" cy="777240"/>
          </a:xfrm>
          <a:prstGeom prst="rect">
            <a:avLst/>
          </a:prstGeom>
          <a:noFill/>
          <a:ln/>
        </p:spPr>
        <p:txBody>
          <a:bodyPr wrap="square" lIns="0" tIns="0" rIns="0" bIns="0" rtlCol="0" anchor="ctr"/>
          <a:lstStyle/>
          <a:p>
            <a:pPr indent="0" marL="0">
              <a:lnSpc>
                <a:spcPct val="110000"/>
              </a:lnSpc>
              <a:buNone/>
            </a:pPr>
            <a:r>
              <a:rPr lang="en-US" sz="1300" dirty="0">
                <a:solidFill>
                  <a:srgbClr val="1E3A34"/>
                </a:solidFill>
                <a:latin typeface="Calibri" pitchFamily="34" charset="0"/>
                <a:ea typeface="Calibri" pitchFamily="34" charset="-122"/>
                <a:cs typeface="Calibri" pitchFamily="34" charset="-120"/>
              </a:rPr>
              <a:t>Everything we write is one TypeScript codebase in one repository. No second service, no API contract between our own components, one place to deploy.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3A34"/>
                </a:solidFill>
                <a:latin typeface="Cambria" pitchFamily="34" charset="0"/>
                <a:ea typeface="Cambria" pitchFamily="34" charset="-122"/>
                <a:cs typeface="Cambria" pitchFamily="34" charset="-120"/>
              </a:rPr>
              <a:t>How the team works</a:t>
            </a:r>
            <a:endParaRPr lang="en-US" sz="3000" dirty="0"/>
          </a:p>
        </p:txBody>
      </p:sp>
      <p:sp>
        <p:nvSpPr>
          <p:cNvPr id="3" name="Text 1"/>
          <p:cNvSpPr txBox="1"/>
          <p:nvPr/>
        </p:nvSpPr>
        <p:spPr>
          <a:xfrm>
            <a:off x="457200" y="987552"/>
            <a:ext cx="8229600" cy="502920"/>
          </a:xfrm>
          <a:prstGeom prst="rect">
            <a:avLst/>
          </a:prstGeom>
          <a:noFill/>
          <a:ln/>
        </p:spPr>
        <p:txBody>
          <a:bodyPr wrap="square" lIns="0" tIns="0" rIns="0" bIns="0" rtlCol="0" anchor="ctr"/>
          <a:lstStyle/>
          <a:p>
            <a:pPr indent="0" marL="0">
              <a:lnSpc>
                <a:spcPct val="110000"/>
              </a:lnSpc>
              <a:buNone/>
            </a:pPr>
            <a:r>
              <a:rPr lang="en-US" sz="1300" dirty="0">
                <a:solidFill>
                  <a:srgbClr val="5A6B66"/>
                </a:solidFill>
                <a:latin typeface="Calibri" pitchFamily="34" charset="0"/>
                <a:ea typeface="Calibri" pitchFamily="34" charset="-122"/>
                <a:cs typeface="Calibri" pitchFamily="34" charset="-120"/>
              </a:rPr>
              <a:t>Eleven engineers across five timezones. There is no single hour in the week when all of them can be online, so we built around that rather than fighting it.</a:t>
            </a:r>
            <a:endParaRPr lang="en-US" sz="1300" dirty="0"/>
          </a:p>
        </p:txBody>
      </p:sp>
      <p:sp>
        <p:nvSpPr>
          <p:cNvPr id="4" name="Shape 2"/>
          <p:cNvSpPr/>
          <p:nvPr/>
        </p:nvSpPr>
        <p:spPr>
          <a:xfrm>
            <a:off x="457200" y="1645920"/>
            <a:ext cx="2606040" cy="1691640"/>
          </a:xfrm>
          <a:prstGeom prst="roundRect">
            <a:avLst>
              <a:gd name="adj" fmla="val 4324"/>
            </a:avLst>
          </a:prstGeom>
          <a:solidFill>
            <a:srgbClr val="EEF4F1"/>
          </a:solidFill>
          <a:ln w="12700">
            <a:solidFill>
              <a:srgbClr val="EEF4F1"/>
            </a:solidFill>
            <a:prstDash val="solid"/>
          </a:ln>
        </p:spPr>
      </p:sp>
      <p:sp>
        <p:nvSpPr>
          <p:cNvPr id="5" name="Text 3"/>
          <p:cNvSpPr txBox="1"/>
          <p:nvPr/>
        </p:nvSpPr>
        <p:spPr>
          <a:xfrm>
            <a:off x="685800" y="1792224"/>
            <a:ext cx="2194560" cy="320040"/>
          </a:xfrm>
          <a:prstGeom prst="rect">
            <a:avLst/>
          </a:prstGeom>
          <a:noFill/>
          <a:ln/>
        </p:spPr>
        <p:txBody>
          <a:bodyPr wrap="square" lIns="0" tIns="0" rIns="0" bIns="0" rtlCol="0" anchor="ctr"/>
          <a:lstStyle/>
          <a:p>
            <a:pPr indent="0" marL="0">
              <a:buNone/>
            </a:pPr>
            <a:r>
              <a:rPr lang="en-US" sz="1600" b="1" dirty="0">
                <a:solidFill>
                  <a:srgbClr val="1E3A34"/>
                </a:solidFill>
                <a:latin typeface="Cambria" pitchFamily="34" charset="0"/>
                <a:ea typeface="Cambria" pitchFamily="34" charset="-122"/>
                <a:cs typeface="Cambria" pitchFamily="34" charset="-120"/>
              </a:rPr>
              <a:t>Pod W</a:t>
            </a:r>
            <a:endParaRPr lang="en-US" sz="1600" dirty="0"/>
          </a:p>
        </p:txBody>
      </p:sp>
      <p:sp>
        <p:nvSpPr>
          <p:cNvPr id="6" name="Text 4"/>
          <p:cNvSpPr txBox="1"/>
          <p:nvPr/>
        </p:nvSpPr>
        <p:spPr>
          <a:xfrm>
            <a:off x="685800" y="2103120"/>
            <a:ext cx="2194560" cy="256032"/>
          </a:xfrm>
          <a:prstGeom prst="rect">
            <a:avLst/>
          </a:prstGeom>
          <a:noFill/>
          <a:ln/>
        </p:spPr>
        <p:txBody>
          <a:bodyPr wrap="square" lIns="0" tIns="0" rIns="0" bIns="0" rtlCol="0" anchor="ctr"/>
          <a:lstStyle/>
          <a:p>
            <a:pPr indent="0" marL="0">
              <a:buNone/>
            </a:pPr>
            <a:r>
              <a:rPr lang="en-US" sz="1100" i="1" dirty="0">
                <a:solidFill>
                  <a:srgbClr val="E07A5F"/>
                </a:solidFill>
                <a:latin typeface="Calibri" pitchFamily="34" charset="0"/>
                <a:ea typeface="Calibri" pitchFamily="34" charset="-122"/>
                <a:cs typeface="Calibri" pitchFamily="34" charset="-120"/>
              </a:rPr>
              <a:t>California</a:t>
            </a:r>
            <a:endParaRPr lang="en-US" sz="1100" dirty="0"/>
          </a:p>
        </p:txBody>
      </p:sp>
      <p:sp>
        <p:nvSpPr>
          <p:cNvPr id="7" name="Text 5"/>
          <p:cNvSpPr txBox="1"/>
          <p:nvPr/>
        </p:nvSpPr>
        <p:spPr>
          <a:xfrm>
            <a:off x="685800" y="2395728"/>
            <a:ext cx="2194560" cy="822960"/>
          </a:xfrm>
          <a:prstGeom prst="rect">
            <a:avLst/>
          </a:prstGeom>
          <a:noFill/>
          <a:ln/>
        </p:spPr>
        <p:txBody>
          <a:bodyPr wrap="square" lIns="0" tIns="0" rIns="0" bIns="0" rtlCol="0" anchor="ctr"/>
          <a:lstStyle/>
          <a:p>
            <a:pPr indent="0" marL="0">
              <a:lnSpc>
                <a:spcPct val="110000"/>
              </a:lnSpc>
              <a:buNone/>
            </a:pPr>
            <a:r>
              <a:rPr lang="en-US" sz="1150" dirty="0">
                <a:solidFill>
                  <a:srgbClr val="5A6B66"/>
                </a:solidFill>
                <a:latin typeface="Calibri" pitchFamily="34" charset="0"/>
                <a:ea typeface="Calibri" pitchFamily="34" charset="-122"/>
                <a:cs typeface="Calibri" pitchFamily="34" charset="-120"/>
              </a:rPr>
              <a:t>Repo, database, sign-in, the fever engine, and review across everything.</a:t>
            </a:r>
            <a:endParaRPr lang="en-US" sz="1150" dirty="0"/>
          </a:p>
        </p:txBody>
      </p:sp>
      <p:sp>
        <p:nvSpPr>
          <p:cNvPr id="8" name="Shape 6"/>
          <p:cNvSpPr/>
          <p:nvPr/>
        </p:nvSpPr>
        <p:spPr>
          <a:xfrm>
            <a:off x="3268980" y="1645920"/>
            <a:ext cx="2606040" cy="1691640"/>
          </a:xfrm>
          <a:prstGeom prst="roundRect">
            <a:avLst>
              <a:gd name="adj" fmla="val 4324"/>
            </a:avLst>
          </a:prstGeom>
          <a:solidFill>
            <a:srgbClr val="EEF4F1"/>
          </a:solidFill>
          <a:ln w="12700">
            <a:solidFill>
              <a:srgbClr val="EEF4F1"/>
            </a:solidFill>
            <a:prstDash val="solid"/>
          </a:ln>
        </p:spPr>
      </p:sp>
      <p:sp>
        <p:nvSpPr>
          <p:cNvPr id="9" name="Text 7"/>
          <p:cNvSpPr txBox="1"/>
          <p:nvPr/>
        </p:nvSpPr>
        <p:spPr>
          <a:xfrm>
            <a:off x="3497580" y="1792224"/>
            <a:ext cx="2194560" cy="320040"/>
          </a:xfrm>
          <a:prstGeom prst="rect">
            <a:avLst/>
          </a:prstGeom>
          <a:noFill/>
          <a:ln/>
        </p:spPr>
        <p:txBody>
          <a:bodyPr wrap="square" lIns="0" tIns="0" rIns="0" bIns="0" rtlCol="0" anchor="ctr"/>
          <a:lstStyle/>
          <a:p>
            <a:pPr indent="0" marL="0">
              <a:buNone/>
            </a:pPr>
            <a:r>
              <a:rPr lang="en-US" sz="1600" b="1" dirty="0">
                <a:solidFill>
                  <a:srgbClr val="1E3A34"/>
                </a:solidFill>
                <a:latin typeface="Cambria" pitchFamily="34" charset="0"/>
                <a:ea typeface="Cambria" pitchFamily="34" charset="-122"/>
                <a:cs typeface="Cambria" pitchFamily="34" charset="-120"/>
              </a:rPr>
              <a:t>Pod E</a:t>
            </a:r>
            <a:endParaRPr lang="en-US" sz="1600" dirty="0"/>
          </a:p>
        </p:txBody>
      </p:sp>
      <p:sp>
        <p:nvSpPr>
          <p:cNvPr id="10" name="Text 8"/>
          <p:cNvSpPr txBox="1"/>
          <p:nvPr/>
        </p:nvSpPr>
        <p:spPr>
          <a:xfrm>
            <a:off x="3497580" y="2103120"/>
            <a:ext cx="2194560" cy="256032"/>
          </a:xfrm>
          <a:prstGeom prst="rect">
            <a:avLst/>
          </a:prstGeom>
          <a:noFill/>
          <a:ln/>
        </p:spPr>
        <p:txBody>
          <a:bodyPr wrap="square" lIns="0" tIns="0" rIns="0" bIns="0" rtlCol="0" anchor="ctr"/>
          <a:lstStyle/>
          <a:p>
            <a:pPr indent="0" marL="0">
              <a:buNone/>
            </a:pPr>
            <a:r>
              <a:rPr lang="en-US" sz="1100" i="1" dirty="0">
                <a:solidFill>
                  <a:srgbClr val="E07A5F"/>
                </a:solidFill>
                <a:latin typeface="Calibri" pitchFamily="34" charset="0"/>
                <a:ea typeface="Calibri" pitchFamily="34" charset="-122"/>
                <a:cs typeface="Calibri" pitchFamily="34" charset="-120"/>
              </a:rPr>
              <a:t>East coast</a:t>
            </a:r>
            <a:endParaRPr lang="en-US" sz="1100" dirty="0"/>
          </a:p>
        </p:txBody>
      </p:sp>
      <p:sp>
        <p:nvSpPr>
          <p:cNvPr id="11" name="Text 9"/>
          <p:cNvSpPr txBox="1"/>
          <p:nvPr/>
        </p:nvSpPr>
        <p:spPr>
          <a:xfrm>
            <a:off x="3497580" y="2395728"/>
            <a:ext cx="2194560" cy="822960"/>
          </a:xfrm>
          <a:prstGeom prst="rect">
            <a:avLst/>
          </a:prstGeom>
          <a:noFill/>
          <a:ln/>
        </p:spPr>
        <p:txBody>
          <a:bodyPr wrap="square" lIns="0" tIns="0" rIns="0" bIns="0" rtlCol="0" anchor="ctr"/>
          <a:lstStyle/>
          <a:p>
            <a:pPr indent="0" marL="0">
              <a:lnSpc>
                <a:spcPct val="110000"/>
              </a:lnSpc>
              <a:buNone/>
            </a:pPr>
            <a:r>
              <a:rPr lang="en-US" sz="1150" dirty="0">
                <a:solidFill>
                  <a:srgbClr val="5A6B66"/>
                </a:solidFill>
                <a:latin typeface="Calibri" pitchFamily="34" charset="0"/>
                <a:ea typeface="Calibri" pitchFamily="34" charset="-122"/>
                <a:cs typeface="Calibri" pitchFamily="34" charset="-120"/>
              </a:rPr>
              <a:t>The screens people touch, and every dataset behind them.</a:t>
            </a:r>
            <a:endParaRPr lang="en-US" sz="1150" dirty="0"/>
          </a:p>
        </p:txBody>
      </p:sp>
      <p:sp>
        <p:nvSpPr>
          <p:cNvPr id="12" name="Shape 10"/>
          <p:cNvSpPr/>
          <p:nvPr/>
        </p:nvSpPr>
        <p:spPr>
          <a:xfrm>
            <a:off x="6080760" y="1645920"/>
            <a:ext cx="2606040" cy="1691640"/>
          </a:xfrm>
          <a:prstGeom prst="roundRect">
            <a:avLst>
              <a:gd name="adj" fmla="val 4324"/>
            </a:avLst>
          </a:prstGeom>
          <a:solidFill>
            <a:srgbClr val="EEF4F1"/>
          </a:solidFill>
          <a:ln w="12700">
            <a:solidFill>
              <a:srgbClr val="EEF4F1"/>
            </a:solidFill>
            <a:prstDash val="solid"/>
          </a:ln>
        </p:spPr>
      </p:sp>
      <p:sp>
        <p:nvSpPr>
          <p:cNvPr id="13" name="Text 11"/>
          <p:cNvSpPr txBox="1"/>
          <p:nvPr/>
        </p:nvSpPr>
        <p:spPr>
          <a:xfrm>
            <a:off x="6309360" y="1792224"/>
            <a:ext cx="2194560" cy="320040"/>
          </a:xfrm>
          <a:prstGeom prst="rect">
            <a:avLst/>
          </a:prstGeom>
          <a:noFill/>
          <a:ln/>
        </p:spPr>
        <p:txBody>
          <a:bodyPr wrap="square" lIns="0" tIns="0" rIns="0" bIns="0" rtlCol="0" anchor="ctr"/>
          <a:lstStyle/>
          <a:p>
            <a:pPr indent="0" marL="0">
              <a:buNone/>
            </a:pPr>
            <a:r>
              <a:rPr lang="en-US" sz="1600" b="1" dirty="0">
                <a:solidFill>
                  <a:srgbClr val="1E3A34"/>
                </a:solidFill>
                <a:latin typeface="Cambria" pitchFamily="34" charset="0"/>
                <a:ea typeface="Cambria" pitchFamily="34" charset="-122"/>
                <a:cs typeface="Cambria" pitchFamily="34" charset="-120"/>
              </a:rPr>
              <a:t>Pod I</a:t>
            </a:r>
            <a:endParaRPr lang="en-US" sz="1600" dirty="0"/>
          </a:p>
        </p:txBody>
      </p:sp>
      <p:sp>
        <p:nvSpPr>
          <p:cNvPr id="14" name="Text 12"/>
          <p:cNvSpPr txBox="1"/>
          <p:nvPr/>
        </p:nvSpPr>
        <p:spPr>
          <a:xfrm>
            <a:off x="6309360" y="2103120"/>
            <a:ext cx="2194560" cy="256032"/>
          </a:xfrm>
          <a:prstGeom prst="rect">
            <a:avLst/>
          </a:prstGeom>
          <a:noFill/>
          <a:ln/>
        </p:spPr>
        <p:txBody>
          <a:bodyPr wrap="square" lIns="0" tIns="0" rIns="0" bIns="0" rtlCol="0" anchor="ctr"/>
          <a:lstStyle/>
          <a:p>
            <a:pPr indent="0" marL="0">
              <a:buNone/>
            </a:pPr>
            <a:r>
              <a:rPr lang="en-US" sz="1100" i="1" dirty="0">
                <a:solidFill>
                  <a:srgbClr val="E07A5F"/>
                </a:solidFill>
                <a:latin typeface="Calibri" pitchFamily="34" charset="0"/>
                <a:ea typeface="Calibri" pitchFamily="34" charset="-122"/>
                <a:cs typeface="Calibri" pitchFamily="34" charset="-120"/>
              </a:rPr>
              <a:t>India and Nairobi</a:t>
            </a:r>
            <a:endParaRPr lang="en-US" sz="1100" dirty="0"/>
          </a:p>
        </p:txBody>
      </p:sp>
      <p:sp>
        <p:nvSpPr>
          <p:cNvPr id="15" name="Text 13"/>
          <p:cNvSpPr txBox="1"/>
          <p:nvPr/>
        </p:nvSpPr>
        <p:spPr>
          <a:xfrm>
            <a:off x="6309360" y="2395728"/>
            <a:ext cx="2194560" cy="822960"/>
          </a:xfrm>
          <a:prstGeom prst="rect">
            <a:avLst/>
          </a:prstGeom>
          <a:noFill/>
          <a:ln/>
        </p:spPr>
        <p:txBody>
          <a:bodyPr wrap="square" lIns="0" tIns="0" rIns="0" bIns="0" rtlCol="0" anchor="ctr"/>
          <a:lstStyle/>
          <a:p>
            <a:pPr indent="0" marL="0">
              <a:lnSpc>
                <a:spcPct val="110000"/>
              </a:lnSpc>
              <a:buNone/>
            </a:pPr>
            <a:r>
              <a:rPr lang="en-US" sz="1150" dirty="0">
                <a:solidFill>
                  <a:srgbClr val="5A6B66"/>
                </a:solidFill>
                <a:latin typeface="Calibri" pitchFamily="34" charset="0"/>
                <a:ea typeface="Calibri" pitchFamily="34" charset="-122"/>
                <a:cs typeface="Calibri" pitchFamily="34" charset="-120"/>
              </a:rPr>
              <a:t>The Ask tab, the data layer, and product recommendations.</a:t>
            </a:r>
            <a:endParaRPr lang="en-US" sz="1150" dirty="0"/>
          </a:p>
        </p:txBody>
      </p:sp>
      <p:sp>
        <p:nvSpPr>
          <p:cNvPr id="16" name="Shape 14"/>
          <p:cNvSpPr/>
          <p:nvPr/>
        </p:nvSpPr>
        <p:spPr>
          <a:xfrm>
            <a:off x="502920" y="3557016"/>
            <a:ext cx="256032" cy="256032"/>
          </a:xfrm>
          <a:prstGeom prst="ellipse">
            <a:avLst/>
          </a:prstGeom>
          <a:solidFill>
            <a:srgbClr val="7CA893"/>
          </a:solidFill>
          <a:ln w="12700">
            <a:solidFill>
              <a:srgbClr val="7CA893"/>
            </a:solidFill>
            <a:prstDash val="solid"/>
          </a:ln>
        </p:spPr>
      </p:sp>
      <p:sp>
        <p:nvSpPr>
          <p:cNvPr id="17" name="Text 15"/>
          <p:cNvSpPr txBox="1"/>
          <p:nvPr/>
        </p:nvSpPr>
        <p:spPr>
          <a:xfrm>
            <a:off x="502920" y="355701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8" name="Text 16"/>
          <p:cNvSpPr txBox="1"/>
          <p:nvPr/>
        </p:nvSpPr>
        <p:spPr>
          <a:xfrm>
            <a:off x="896112" y="3520440"/>
            <a:ext cx="7772400" cy="329184"/>
          </a:xfrm>
          <a:prstGeom prst="rect">
            <a:avLst/>
          </a:prstGeom>
          <a:noFill/>
          <a:ln/>
        </p:spPr>
        <p:txBody>
          <a:bodyPr wrap="square" lIns="0" tIns="0" rIns="0" bIns="0" rtlCol="0" anchor="ctr"/>
          <a:lstStyle/>
          <a:p>
            <a:pPr indent="0" marL="0">
              <a:buNone/>
            </a:pPr>
            <a:r>
              <a:rPr lang="en-US" sz="1200" b="1" dirty="0">
                <a:solidFill>
                  <a:srgbClr val="1E3A34"/>
                </a:solidFill>
                <a:latin typeface="Calibri" pitchFamily="34" charset="0"/>
                <a:ea typeface="Calibri" pitchFamily="34" charset="-122"/>
                <a:cs typeface="Calibri" pitchFamily="34" charset="-120"/>
              </a:rPr>
              <a:t>Pods are grouped by timezone  </a:t>
            </a:r>
            <a:pPr indent="0" marL="0">
              <a:buNone/>
            </a:pPr>
            <a:r>
              <a:rPr lang="en-US" sz="1200" dirty="0">
                <a:solidFill>
                  <a:srgbClr val="5A6B66"/>
                </a:solidFill>
                <a:latin typeface="Calibri" pitchFamily="34" charset="0"/>
                <a:ea typeface="Calibri" pitchFamily="34" charset="-122"/>
                <a:cs typeface="Calibri" pitchFamily="34" charset="-120"/>
              </a:rPr>
              <a:t>so people who work at the same hours also work on the same thing.</a:t>
            </a:r>
            <a:endParaRPr lang="en-US" sz="1200" dirty="0"/>
          </a:p>
        </p:txBody>
      </p:sp>
      <p:sp>
        <p:nvSpPr>
          <p:cNvPr id="19" name="Shape 17"/>
          <p:cNvSpPr/>
          <p:nvPr/>
        </p:nvSpPr>
        <p:spPr>
          <a:xfrm>
            <a:off x="502920" y="3977640"/>
            <a:ext cx="256032" cy="256032"/>
          </a:xfrm>
          <a:prstGeom prst="ellipse">
            <a:avLst/>
          </a:prstGeom>
          <a:solidFill>
            <a:srgbClr val="7CA893"/>
          </a:solidFill>
          <a:ln w="12700">
            <a:solidFill>
              <a:srgbClr val="7CA893"/>
            </a:solidFill>
            <a:prstDash val="solid"/>
          </a:ln>
        </p:spPr>
      </p:sp>
      <p:sp>
        <p:nvSpPr>
          <p:cNvPr id="20" name="Text 18"/>
          <p:cNvSpPr txBox="1"/>
          <p:nvPr/>
        </p:nvSpPr>
        <p:spPr>
          <a:xfrm>
            <a:off x="502920" y="397764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1" name="Text 19"/>
          <p:cNvSpPr txBox="1"/>
          <p:nvPr/>
        </p:nvSpPr>
        <p:spPr>
          <a:xfrm>
            <a:off x="896112" y="3941064"/>
            <a:ext cx="7772400" cy="329184"/>
          </a:xfrm>
          <a:prstGeom prst="rect">
            <a:avLst/>
          </a:prstGeom>
          <a:noFill/>
          <a:ln/>
        </p:spPr>
        <p:txBody>
          <a:bodyPr wrap="square" lIns="0" tIns="0" rIns="0" bIns="0" rtlCol="0" anchor="ctr"/>
          <a:lstStyle/>
          <a:p>
            <a:pPr indent="0" marL="0">
              <a:buNone/>
            </a:pPr>
            <a:r>
              <a:rPr lang="en-US" sz="1200" b="1" dirty="0">
                <a:solidFill>
                  <a:srgbClr val="1E3A34"/>
                </a:solidFill>
                <a:latin typeface="Calibri" pitchFamily="34" charset="0"/>
                <a:ea typeface="Calibri" pitchFamily="34" charset="-122"/>
                <a:cs typeface="Calibri" pitchFamily="34" charset="-120"/>
              </a:rPr>
              <a:t>Each pod has one named bridge  </a:t>
            </a:r>
            <a:pPr indent="0" marL="0">
              <a:buNone/>
            </a:pPr>
            <a:r>
              <a:rPr lang="en-US" sz="1200" dirty="0">
                <a:solidFill>
                  <a:srgbClr val="5A6B66"/>
                </a:solidFill>
                <a:latin typeface="Calibri" pitchFamily="34" charset="0"/>
                <a:ea typeface="Calibri" pitchFamily="34" charset="-122"/>
                <a:cs typeface="Calibri" pitchFamily="34" charset="-120"/>
              </a:rPr>
              <a:t>one person responsible for keeping the other pods in sync.</a:t>
            </a:r>
            <a:endParaRPr lang="en-US" sz="1200" dirty="0"/>
          </a:p>
        </p:txBody>
      </p:sp>
      <p:sp>
        <p:nvSpPr>
          <p:cNvPr id="22" name="Shape 20"/>
          <p:cNvSpPr/>
          <p:nvPr/>
        </p:nvSpPr>
        <p:spPr>
          <a:xfrm>
            <a:off x="502920" y="4398264"/>
            <a:ext cx="256032" cy="256032"/>
          </a:xfrm>
          <a:prstGeom prst="ellipse">
            <a:avLst/>
          </a:prstGeom>
          <a:solidFill>
            <a:srgbClr val="E07A5F"/>
          </a:solidFill>
          <a:ln w="12700">
            <a:solidFill>
              <a:srgbClr val="E07A5F"/>
            </a:solidFill>
            <a:prstDash val="solid"/>
          </a:ln>
        </p:spPr>
      </p:sp>
      <p:sp>
        <p:nvSpPr>
          <p:cNvPr id="23" name="Text 21"/>
          <p:cNvSpPr txBox="1"/>
          <p:nvPr/>
        </p:nvSpPr>
        <p:spPr>
          <a:xfrm>
            <a:off x="502920" y="439826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2"/>
          <p:cNvSpPr txBox="1"/>
          <p:nvPr/>
        </p:nvSpPr>
        <p:spPr>
          <a:xfrm>
            <a:off x="896112" y="4361688"/>
            <a:ext cx="7772400" cy="329184"/>
          </a:xfrm>
          <a:prstGeom prst="rect">
            <a:avLst/>
          </a:prstGeom>
          <a:noFill/>
          <a:ln/>
        </p:spPr>
        <p:txBody>
          <a:bodyPr wrap="square" lIns="0" tIns="0" rIns="0" bIns="0" rtlCol="0" anchor="ctr"/>
          <a:lstStyle/>
          <a:p>
            <a:pPr indent="0" marL="0">
              <a:buNone/>
            </a:pPr>
            <a:r>
              <a:rPr lang="en-US" sz="1200" b="1" dirty="0">
                <a:solidFill>
                  <a:srgbClr val="1E3A34"/>
                </a:solidFill>
                <a:latin typeface="Calibri" pitchFamily="34" charset="0"/>
                <a:ea typeface="Calibri" pitchFamily="34" charset="-122"/>
                <a:cs typeface="Calibri" pitchFamily="34" charset="-120"/>
              </a:rPr>
              <a:t>Interfaces freeze end of week one  </a:t>
            </a:r>
            <a:pPr indent="0" marL="0">
              <a:buNone/>
            </a:pPr>
            <a:r>
              <a:rPr lang="en-US" sz="1200" dirty="0">
                <a:solidFill>
                  <a:srgbClr val="5A6B66"/>
                </a:solidFill>
                <a:latin typeface="Calibri" pitchFamily="34" charset="0"/>
                <a:ea typeface="Calibri" pitchFamily="34" charset="-122"/>
                <a:cs typeface="Calibri" pitchFamily="34" charset="-120"/>
              </a:rPr>
              <a:t>pods build against an agreed shape instead of waiting on each other.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E3A34"/>
                </a:solidFill>
                <a:latin typeface="Cambria" pitchFamily="34" charset="0"/>
                <a:ea typeface="Cambria" pitchFamily="34" charset="-122"/>
                <a:cs typeface="Cambria" pitchFamily="34" charset="-120"/>
              </a:rPr>
              <a:t>Six weeks</a:t>
            </a:r>
            <a:endParaRPr lang="en-US" sz="3000" dirty="0"/>
          </a:p>
        </p:txBody>
      </p:sp>
      <p:sp>
        <p:nvSpPr>
          <p:cNvPr id="3" name="Shape 1"/>
          <p:cNvSpPr/>
          <p:nvPr/>
        </p:nvSpPr>
        <p:spPr>
          <a:xfrm>
            <a:off x="457200" y="1234440"/>
            <a:ext cx="1261872" cy="1783080"/>
          </a:xfrm>
          <a:prstGeom prst="roundRect">
            <a:avLst>
              <a:gd name="adj" fmla="val 5797"/>
            </a:avLst>
          </a:prstGeom>
          <a:solidFill>
            <a:srgbClr val="EEF4F1"/>
          </a:solidFill>
          <a:ln w="12700">
            <a:solidFill>
              <a:srgbClr val="EEF4F1"/>
            </a:solidFill>
            <a:prstDash val="solid"/>
          </a:ln>
        </p:spPr>
      </p:sp>
      <p:sp>
        <p:nvSpPr>
          <p:cNvPr id="4" name="Shape 2"/>
          <p:cNvSpPr/>
          <p:nvPr/>
        </p:nvSpPr>
        <p:spPr>
          <a:xfrm>
            <a:off x="905256" y="1417320"/>
            <a:ext cx="365760" cy="365760"/>
          </a:xfrm>
          <a:prstGeom prst="ellipse">
            <a:avLst/>
          </a:prstGeom>
          <a:solidFill>
            <a:srgbClr val="1E3A34"/>
          </a:solidFill>
          <a:ln w="12700">
            <a:solidFill>
              <a:srgbClr val="1E3A34"/>
            </a:solidFill>
            <a:prstDash val="solid"/>
          </a:ln>
        </p:spPr>
      </p:sp>
      <p:sp>
        <p:nvSpPr>
          <p:cNvPr id="5" name="Text 3"/>
          <p:cNvSpPr txBox="1"/>
          <p:nvPr/>
        </p:nvSpPr>
        <p:spPr>
          <a:xfrm>
            <a:off x="905256"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457200" y="1874520"/>
            <a:ext cx="1261872" cy="365760"/>
          </a:xfrm>
          <a:prstGeom prst="rect">
            <a:avLst/>
          </a:prstGeom>
          <a:noFill/>
          <a:ln/>
        </p:spPr>
        <p:txBody>
          <a:bodyPr wrap="square" lIns="0" tIns="0" rIns="0" bIns="0" rtlCol="0" anchor="ctr"/>
          <a:lstStyle/>
          <a:p>
            <a:pPr algn="ctr" indent="0" marL="0">
              <a:buNone/>
            </a:pPr>
            <a:r>
              <a:rPr lang="en-US" sz="1250" b="1" dirty="0">
                <a:solidFill>
                  <a:srgbClr val="1E3A34"/>
                </a:solidFill>
                <a:latin typeface="Calibri" pitchFamily="34" charset="0"/>
                <a:ea typeface="Calibri" pitchFamily="34" charset="-122"/>
                <a:cs typeface="Calibri" pitchFamily="34" charset="-120"/>
              </a:rPr>
              <a:t>Foundation</a:t>
            </a:r>
            <a:endParaRPr lang="en-US" sz="1250" dirty="0"/>
          </a:p>
        </p:txBody>
      </p:sp>
      <p:sp>
        <p:nvSpPr>
          <p:cNvPr id="7" name="Text 5"/>
          <p:cNvSpPr txBox="1"/>
          <p:nvPr/>
        </p:nvSpPr>
        <p:spPr>
          <a:xfrm>
            <a:off x="530352" y="2212848"/>
            <a:ext cx="1115568" cy="777240"/>
          </a:xfrm>
          <a:prstGeom prst="rect">
            <a:avLst/>
          </a:prstGeom>
          <a:noFill/>
          <a:ln/>
        </p:spPr>
        <p:txBody>
          <a:bodyPr wrap="square" lIns="0" tIns="0" rIns="0" bIns="0" rtlCol="0" anchor="t"/>
          <a:lstStyle/>
          <a:p>
            <a:pPr algn="ctr" indent="0" marL="0">
              <a:lnSpc>
                <a:spcPct val="105000"/>
              </a:lnSpc>
              <a:buNone/>
            </a:pPr>
            <a:r>
              <a:rPr lang="en-US" sz="950" dirty="0">
                <a:solidFill>
                  <a:srgbClr val="5A6B66"/>
                </a:solidFill>
                <a:latin typeface="Calibri" pitchFamily="34" charset="0"/>
                <a:ea typeface="Calibri" pitchFamily="34" charset="-122"/>
                <a:cs typeface="Calibri" pitchFamily="34" charset="-120"/>
              </a:rPr>
              <a:t>Repo, database, sign-in, the shell of every screen.</a:t>
            </a:r>
            <a:endParaRPr lang="en-US" sz="950" dirty="0"/>
          </a:p>
        </p:txBody>
      </p:sp>
      <p:sp>
        <p:nvSpPr>
          <p:cNvPr id="8" name="Shape 6"/>
          <p:cNvSpPr/>
          <p:nvPr/>
        </p:nvSpPr>
        <p:spPr>
          <a:xfrm>
            <a:off x="1847088" y="1234440"/>
            <a:ext cx="1261872" cy="1783080"/>
          </a:xfrm>
          <a:prstGeom prst="roundRect">
            <a:avLst>
              <a:gd name="adj" fmla="val 5797"/>
            </a:avLst>
          </a:prstGeom>
          <a:solidFill>
            <a:srgbClr val="EEF4F1"/>
          </a:solidFill>
          <a:ln w="12700">
            <a:solidFill>
              <a:srgbClr val="EEF4F1"/>
            </a:solidFill>
            <a:prstDash val="solid"/>
          </a:ln>
        </p:spPr>
      </p:sp>
      <p:sp>
        <p:nvSpPr>
          <p:cNvPr id="9" name="Shape 7"/>
          <p:cNvSpPr/>
          <p:nvPr/>
        </p:nvSpPr>
        <p:spPr>
          <a:xfrm>
            <a:off x="2295144" y="1417320"/>
            <a:ext cx="365760" cy="365760"/>
          </a:xfrm>
          <a:prstGeom prst="ellipse">
            <a:avLst/>
          </a:prstGeom>
          <a:solidFill>
            <a:srgbClr val="1E3A34"/>
          </a:solidFill>
          <a:ln w="12700">
            <a:solidFill>
              <a:srgbClr val="1E3A34"/>
            </a:solidFill>
            <a:prstDash val="solid"/>
          </a:ln>
        </p:spPr>
      </p:sp>
      <p:sp>
        <p:nvSpPr>
          <p:cNvPr id="10" name="Text 8"/>
          <p:cNvSpPr txBox="1"/>
          <p:nvPr/>
        </p:nvSpPr>
        <p:spPr>
          <a:xfrm>
            <a:off x="2295144"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847088" y="1874520"/>
            <a:ext cx="1261872" cy="365760"/>
          </a:xfrm>
          <a:prstGeom prst="rect">
            <a:avLst/>
          </a:prstGeom>
          <a:noFill/>
          <a:ln/>
        </p:spPr>
        <p:txBody>
          <a:bodyPr wrap="square" lIns="0" tIns="0" rIns="0" bIns="0" rtlCol="0" anchor="ctr"/>
          <a:lstStyle/>
          <a:p>
            <a:pPr algn="ctr" indent="0" marL="0">
              <a:buNone/>
            </a:pPr>
            <a:r>
              <a:rPr lang="en-US" sz="1250" b="1" dirty="0">
                <a:solidFill>
                  <a:srgbClr val="1E3A34"/>
                </a:solidFill>
                <a:latin typeface="Calibri" pitchFamily="34" charset="0"/>
                <a:ea typeface="Calibri" pitchFamily="34" charset="-122"/>
                <a:cs typeface="Calibri" pitchFamily="34" charset="-120"/>
              </a:rPr>
              <a:t>Track</a:t>
            </a:r>
            <a:endParaRPr lang="en-US" sz="1250" dirty="0"/>
          </a:p>
        </p:txBody>
      </p:sp>
      <p:sp>
        <p:nvSpPr>
          <p:cNvPr id="12" name="Text 10"/>
          <p:cNvSpPr txBox="1"/>
          <p:nvPr/>
        </p:nvSpPr>
        <p:spPr>
          <a:xfrm>
            <a:off x="1920240" y="2212848"/>
            <a:ext cx="1115568" cy="777240"/>
          </a:xfrm>
          <a:prstGeom prst="rect">
            <a:avLst/>
          </a:prstGeom>
          <a:noFill/>
          <a:ln/>
        </p:spPr>
        <p:txBody>
          <a:bodyPr wrap="square" lIns="0" tIns="0" rIns="0" bIns="0" rtlCol="0" anchor="t"/>
          <a:lstStyle/>
          <a:p>
            <a:pPr algn="ctr" indent="0" marL="0">
              <a:lnSpc>
                <a:spcPct val="105000"/>
              </a:lnSpc>
              <a:buNone/>
            </a:pPr>
            <a:r>
              <a:rPr lang="en-US" sz="950" dirty="0">
                <a:solidFill>
                  <a:srgbClr val="5A6B66"/>
                </a:solidFill>
                <a:latin typeface="Calibri" pitchFamily="34" charset="0"/>
                <a:ea typeface="Calibri" pitchFamily="34" charset="-122"/>
                <a:cs typeface="Calibri" pitchFamily="34" charset="-120"/>
              </a:rPr>
              <a:t>Milestones across all four areas of development.</a:t>
            </a:r>
            <a:endParaRPr lang="en-US" sz="950" dirty="0"/>
          </a:p>
        </p:txBody>
      </p:sp>
      <p:sp>
        <p:nvSpPr>
          <p:cNvPr id="13" name="Shape 11"/>
          <p:cNvSpPr/>
          <p:nvPr/>
        </p:nvSpPr>
        <p:spPr>
          <a:xfrm>
            <a:off x="3236976" y="1234440"/>
            <a:ext cx="1261872" cy="1783080"/>
          </a:xfrm>
          <a:prstGeom prst="roundRect">
            <a:avLst>
              <a:gd name="adj" fmla="val 5797"/>
            </a:avLst>
          </a:prstGeom>
          <a:solidFill>
            <a:srgbClr val="EEF4F1"/>
          </a:solidFill>
          <a:ln w="12700">
            <a:solidFill>
              <a:srgbClr val="EEF4F1"/>
            </a:solidFill>
            <a:prstDash val="solid"/>
          </a:ln>
        </p:spPr>
      </p:sp>
      <p:sp>
        <p:nvSpPr>
          <p:cNvPr id="14" name="Shape 12"/>
          <p:cNvSpPr/>
          <p:nvPr/>
        </p:nvSpPr>
        <p:spPr>
          <a:xfrm>
            <a:off x="3685032" y="1417320"/>
            <a:ext cx="365760" cy="365760"/>
          </a:xfrm>
          <a:prstGeom prst="ellipse">
            <a:avLst/>
          </a:prstGeom>
          <a:solidFill>
            <a:srgbClr val="1E3A34"/>
          </a:solidFill>
          <a:ln w="12700">
            <a:solidFill>
              <a:srgbClr val="1E3A34"/>
            </a:solidFill>
            <a:prstDash val="solid"/>
          </a:ln>
        </p:spPr>
      </p:sp>
      <p:sp>
        <p:nvSpPr>
          <p:cNvPr id="15" name="Text 13"/>
          <p:cNvSpPr txBox="1"/>
          <p:nvPr/>
        </p:nvSpPr>
        <p:spPr>
          <a:xfrm>
            <a:off x="3685032"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3236976" y="1874520"/>
            <a:ext cx="1261872" cy="365760"/>
          </a:xfrm>
          <a:prstGeom prst="rect">
            <a:avLst/>
          </a:prstGeom>
          <a:noFill/>
          <a:ln/>
        </p:spPr>
        <p:txBody>
          <a:bodyPr wrap="square" lIns="0" tIns="0" rIns="0" bIns="0" rtlCol="0" anchor="ctr"/>
          <a:lstStyle/>
          <a:p>
            <a:pPr algn="ctr" indent="0" marL="0">
              <a:buNone/>
            </a:pPr>
            <a:r>
              <a:rPr lang="en-US" sz="1250" b="1" dirty="0">
                <a:solidFill>
                  <a:srgbClr val="1E3A34"/>
                </a:solidFill>
                <a:latin typeface="Calibri" pitchFamily="34" charset="0"/>
                <a:ea typeface="Calibri" pitchFamily="34" charset="-122"/>
                <a:cs typeface="Calibri" pitchFamily="34" charset="-120"/>
              </a:rPr>
              <a:t>Learn</a:t>
            </a:r>
            <a:endParaRPr lang="en-US" sz="1250" dirty="0"/>
          </a:p>
        </p:txBody>
      </p:sp>
      <p:sp>
        <p:nvSpPr>
          <p:cNvPr id="17" name="Text 15"/>
          <p:cNvSpPr txBox="1"/>
          <p:nvPr/>
        </p:nvSpPr>
        <p:spPr>
          <a:xfrm>
            <a:off x="3310128" y="2212848"/>
            <a:ext cx="1115568" cy="777240"/>
          </a:xfrm>
          <a:prstGeom prst="rect">
            <a:avLst/>
          </a:prstGeom>
          <a:noFill/>
          <a:ln/>
        </p:spPr>
        <p:txBody>
          <a:bodyPr wrap="square" lIns="0" tIns="0" rIns="0" bIns="0" rtlCol="0" anchor="t"/>
          <a:lstStyle/>
          <a:p>
            <a:pPr algn="ctr" indent="0" marL="0">
              <a:lnSpc>
                <a:spcPct val="105000"/>
              </a:lnSpc>
              <a:buNone/>
            </a:pPr>
            <a:r>
              <a:rPr lang="en-US" sz="950" dirty="0">
                <a:solidFill>
                  <a:srgbClr val="5A6B66"/>
                </a:solidFill>
                <a:latin typeface="Calibri" pitchFamily="34" charset="0"/>
                <a:ea typeface="Calibri" pitchFamily="34" charset="-122"/>
                <a:cs typeface="Calibri" pitchFamily="34" charset="-120"/>
              </a:rPr>
              <a:t>Reading feed. Fever rules go to the clinician.</a:t>
            </a:r>
            <a:endParaRPr lang="en-US" sz="950" dirty="0"/>
          </a:p>
        </p:txBody>
      </p:sp>
      <p:sp>
        <p:nvSpPr>
          <p:cNvPr id="18" name="Shape 16"/>
          <p:cNvSpPr/>
          <p:nvPr/>
        </p:nvSpPr>
        <p:spPr>
          <a:xfrm>
            <a:off x="4626864" y="1234440"/>
            <a:ext cx="1261872" cy="1783080"/>
          </a:xfrm>
          <a:prstGeom prst="roundRect">
            <a:avLst>
              <a:gd name="adj" fmla="val 5797"/>
            </a:avLst>
          </a:prstGeom>
          <a:solidFill>
            <a:srgbClr val="F2F2F0"/>
          </a:solidFill>
          <a:ln w="12700">
            <a:solidFill>
              <a:srgbClr val="F2F2F0"/>
            </a:solidFill>
            <a:prstDash val="solid"/>
          </a:ln>
        </p:spPr>
      </p:sp>
      <p:sp>
        <p:nvSpPr>
          <p:cNvPr id="19" name="Shape 17"/>
          <p:cNvSpPr/>
          <p:nvPr/>
        </p:nvSpPr>
        <p:spPr>
          <a:xfrm>
            <a:off x="5074920" y="1417320"/>
            <a:ext cx="365760" cy="365760"/>
          </a:xfrm>
          <a:prstGeom prst="ellipse">
            <a:avLst/>
          </a:prstGeom>
          <a:solidFill>
            <a:srgbClr val="7CA893"/>
          </a:solidFill>
          <a:ln w="12700">
            <a:solidFill>
              <a:srgbClr val="7CA893"/>
            </a:solidFill>
            <a:prstDash val="solid"/>
          </a:ln>
        </p:spPr>
      </p:sp>
      <p:sp>
        <p:nvSpPr>
          <p:cNvPr id="20" name="Text 18"/>
          <p:cNvSpPr txBox="1"/>
          <p:nvPr/>
        </p:nvSpPr>
        <p:spPr>
          <a:xfrm>
            <a:off x="5074920"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4626864" y="1874520"/>
            <a:ext cx="1261872" cy="365760"/>
          </a:xfrm>
          <a:prstGeom prst="rect">
            <a:avLst/>
          </a:prstGeom>
          <a:noFill/>
          <a:ln/>
        </p:spPr>
        <p:txBody>
          <a:bodyPr wrap="square" lIns="0" tIns="0" rIns="0" bIns="0" rtlCol="0" anchor="ctr"/>
          <a:lstStyle/>
          <a:p>
            <a:pPr algn="ctr" indent="0" marL="0">
              <a:buNone/>
            </a:pPr>
            <a:r>
              <a:rPr lang="en-US" sz="1250" b="1" dirty="0">
                <a:solidFill>
                  <a:srgbClr val="1E3A34"/>
                </a:solidFill>
                <a:latin typeface="Calibri" pitchFamily="34" charset="0"/>
                <a:ea typeface="Calibri" pitchFamily="34" charset="-122"/>
                <a:cs typeface="Calibri" pitchFamily="34" charset="-120"/>
              </a:rPr>
              <a:t>Cart + Ask</a:t>
            </a:r>
            <a:endParaRPr lang="en-US" sz="1250" dirty="0"/>
          </a:p>
        </p:txBody>
      </p:sp>
      <p:sp>
        <p:nvSpPr>
          <p:cNvPr id="22" name="Text 20"/>
          <p:cNvSpPr txBox="1"/>
          <p:nvPr/>
        </p:nvSpPr>
        <p:spPr>
          <a:xfrm>
            <a:off x="4700016" y="2212848"/>
            <a:ext cx="1115568" cy="777240"/>
          </a:xfrm>
          <a:prstGeom prst="rect">
            <a:avLst/>
          </a:prstGeom>
          <a:noFill/>
          <a:ln/>
        </p:spPr>
        <p:txBody>
          <a:bodyPr wrap="square" lIns="0" tIns="0" rIns="0" bIns="0" rtlCol="0" anchor="t"/>
          <a:lstStyle/>
          <a:p>
            <a:pPr algn="ctr" indent="0" marL="0">
              <a:lnSpc>
                <a:spcPct val="105000"/>
              </a:lnSpc>
              <a:buNone/>
            </a:pPr>
            <a:r>
              <a:rPr lang="en-US" sz="950" dirty="0">
                <a:solidFill>
                  <a:srgbClr val="5A6B66"/>
                </a:solidFill>
                <a:latin typeface="Calibri" pitchFamily="34" charset="0"/>
                <a:ea typeface="Calibri" pitchFamily="34" charset="-122"/>
                <a:cs typeface="Calibri" pitchFamily="34" charset="-120"/>
              </a:rPr>
              <a:t>Recommendations. The Ask tab goes live.</a:t>
            </a:r>
            <a:endParaRPr lang="en-US" sz="950" dirty="0"/>
          </a:p>
        </p:txBody>
      </p:sp>
      <p:sp>
        <p:nvSpPr>
          <p:cNvPr id="23" name="Shape 21"/>
          <p:cNvSpPr/>
          <p:nvPr/>
        </p:nvSpPr>
        <p:spPr>
          <a:xfrm>
            <a:off x="6016752" y="1234440"/>
            <a:ext cx="1261872" cy="1783080"/>
          </a:xfrm>
          <a:prstGeom prst="roundRect">
            <a:avLst>
              <a:gd name="adj" fmla="val 5797"/>
            </a:avLst>
          </a:prstGeom>
          <a:solidFill>
            <a:srgbClr val="F2F2F0"/>
          </a:solidFill>
          <a:ln w="12700">
            <a:solidFill>
              <a:srgbClr val="F2F2F0"/>
            </a:solidFill>
            <a:prstDash val="solid"/>
          </a:ln>
        </p:spPr>
      </p:sp>
      <p:sp>
        <p:nvSpPr>
          <p:cNvPr id="24" name="Shape 22"/>
          <p:cNvSpPr/>
          <p:nvPr/>
        </p:nvSpPr>
        <p:spPr>
          <a:xfrm>
            <a:off x="6464808" y="1417320"/>
            <a:ext cx="365760" cy="365760"/>
          </a:xfrm>
          <a:prstGeom prst="ellipse">
            <a:avLst/>
          </a:prstGeom>
          <a:solidFill>
            <a:srgbClr val="7CA893"/>
          </a:solidFill>
          <a:ln w="12700">
            <a:solidFill>
              <a:srgbClr val="7CA893"/>
            </a:solidFill>
            <a:prstDash val="solid"/>
          </a:ln>
        </p:spPr>
      </p:sp>
      <p:sp>
        <p:nvSpPr>
          <p:cNvPr id="25" name="Text 23"/>
          <p:cNvSpPr txBox="1"/>
          <p:nvPr/>
        </p:nvSpPr>
        <p:spPr>
          <a:xfrm>
            <a:off x="6464808"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6016752" y="1874520"/>
            <a:ext cx="1261872" cy="365760"/>
          </a:xfrm>
          <a:prstGeom prst="rect">
            <a:avLst/>
          </a:prstGeom>
          <a:noFill/>
          <a:ln/>
        </p:spPr>
        <p:txBody>
          <a:bodyPr wrap="square" lIns="0" tIns="0" rIns="0" bIns="0" rtlCol="0" anchor="ctr"/>
          <a:lstStyle/>
          <a:p>
            <a:pPr algn="ctr" indent="0" marL="0">
              <a:buNone/>
            </a:pPr>
            <a:r>
              <a:rPr lang="en-US" sz="1250" b="1" dirty="0">
                <a:solidFill>
                  <a:srgbClr val="1E3A34"/>
                </a:solidFill>
                <a:latin typeface="Calibri" pitchFamily="34" charset="0"/>
                <a:ea typeface="Calibri" pitchFamily="34" charset="-122"/>
                <a:cs typeface="Calibri" pitchFamily="34" charset="-120"/>
              </a:rPr>
              <a:t>Health</a:t>
            </a:r>
            <a:endParaRPr lang="en-US" sz="1250" dirty="0"/>
          </a:p>
        </p:txBody>
      </p:sp>
      <p:sp>
        <p:nvSpPr>
          <p:cNvPr id="27" name="Text 25"/>
          <p:cNvSpPr txBox="1"/>
          <p:nvPr/>
        </p:nvSpPr>
        <p:spPr>
          <a:xfrm>
            <a:off x="6089904" y="2212848"/>
            <a:ext cx="1115568" cy="777240"/>
          </a:xfrm>
          <a:prstGeom prst="rect">
            <a:avLst/>
          </a:prstGeom>
          <a:noFill/>
          <a:ln/>
        </p:spPr>
        <p:txBody>
          <a:bodyPr wrap="square" lIns="0" tIns="0" rIns="0" bIns="0" rtlCol="0" anchor="t"/>
          <a:lstStyle/>
          <a:p>
            <a:pPr algn="ctr" indent="0" marL="0">
              <a:lnSpc>
                <a:spcPct val="105000"/>
              </a:lnSpc>
              <a:buNone/>
            </a:pPr>
            <a:r>
              <a:rPr lang="en-US" sz="950" dirty="0">
                <a:solidFill>
                  <a:srgbClr val="5A6B66"/>
                </a:solidFill>
                <a:latin typeface="Calibri" pitchFamily="34" charset="0"/>
                <a:ea typeface="Calibri" pitchFamily="34" charset="-122"/>
                <a:cs typeface="Calibri" pitchFamily="34" charset="-120"/>
              </a:rPr>
              <a:t>Fever checker screens. Reviewer feedback applied.</a:t>
            </a:r>
            <a:endParaRPr lang="en-US" sz="950" dirty="0"/>
          </a:p>
        </p:txBody>
      </p:sp>
      <p:sp>
        <p:nvSpPr>
          <p:cNvPr id="28" name="Shape 26"/>
          <p:cNvSpPr/>
          <p:nvPr/>
        </p:nvSpPr>
        <p:spPr>
          <a:xfrm>
            <a:off x="7406640" y="1234440"/>
            <a:ext cx="1261872" cy="1783080"/>
          </a:xfrm>
          <a:prstGeom prst="roundRect">
            <a:avLst>
              <a:gd name="adj" fmla="val 5797"/>
            </a:avLst>
          </a:prstGeom>
          <a:solidFill>
            <a:srgbClr val="F2F2F0"/>
          </a:solidFill>
          <a:ln w="12700">
            <a:solidFill>
              <a:srgbClr val="F2F2F0"/>
            </a:solidFill>
            <a:prstDash val="solid"/>
          </a:ln>
        </p:spPr>
      </p:sp>
      <p:sp>
        <p:nvSpPr>
          <p:cNvPr id="29" name="Shape 27"/>
          <p:cNvSpPr/>
          <p:nvPr/>
        </p:nvSpPr>
        <p:spPr>
          <a:xfrm>
            <a:off x="7854696" y="1417320"/>
            <a:ext cx="365760" cy="365760"/>
          </a:xfrm>
          <a:prstGeom prst="ellipse">
            <a:avLst/>
          </a:prstGeom>
          <a:solidFill>
            <a:srgbClr val="7CA893"/>
          </a:solidFill>
          <a:ln w="12700">
            <a:solidFill>
              <a:srgbClr val="7CA893"/>
            </a:solidFill>
            <a:prstDash val="solid"/>
          </a:ln>
        </p:spPr>
      </p:sp>
      <p:sp>
        <p:nvSpPr>
          <p:cNvPr id="30" name="Text 28"/>
          <p:cNvSpPr txBox="1"/>
          <p:nvPr/>
        </p:nvSpPr>
        <p:spPr>
          <a:xfrm>
            <a:off x="7854696"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1" name="Text 29"/>
          <p:cNvSpPr txBox="1"/>
          <p:nvPr/>
        </p:nvSpPr>
        <p:spPr>
          <a:xfrm>
            <a:off x="7406640" y="1874520"/>
            <a:ext cx="1261872" cy="365760"/>
          </a:xfrm>
          <a:prstGeom prst="rect">
            <a:avLst/>
          </a:prstGeom>
          <a:noFill/>
          <a:ln/>
        </p:spPr>
        <p:txBody>
          <a:bodyPr wrap="square" lIns="0" tIns="0" rIns="0" bIns="0" rtlCol="0" anchor="ctr"/>
          <a:lstStyle/>
          <a:p>
            <a:pPr algn="ctr" indent="0" marL="0">
              <a:buNone/>
            </a:pPr>
            <a:r>
              <a:rPr lang="en-US" sz="1250" b="1" dirty="0">
                <a:solidFill>
                  <a:srgbClr val="1E3A34"/>
                </a:solidFill>
                <a:latin typeface="Calibri" pitchFamily="34" charset="0"/>
                <a:ea typeface="Calibri" pitchFamily="34" charset="-122"/>
                <a:cs typeface="Calibri" pitchFamily="34" charset="-120"/>
              </a:rPr>
              <a:t>Launch</a:t>
            </a:r>
            <a:endParaRPr lang="en-US" sz="1250" dirty="0"/>
          </a:p>
        </p:txBody>
      </p:sp>
      <p:sp>
        <p:nvSpPr>
          <p:cNvPr id="32" name="Text 30"/>
          <p:cNvSpPr txBox="1"/>
          <p:nvPr/>
        </p:nvSpPr>
        <p:spPr>
          <a:xfrm>
            <a:off x="7479792" y="2212848"/>
            <a:ext cx="1115568" cy="777240"/>
          </a:xfrm>
          <a:prstGeom prst="rect">
            <a:avLst/>
          </a:prstGeom>
          <a:noFill/>
          <a:ln/>
        </p:spPr>
        <p:txBody>
          <a:bodyPr wrap="square" lIns="0" tIns="0" rIns="0" bIns="0" rtlCol="0" anchor="t"/>
          <a:lstStyle/>
          <a:p>
            <a:pPr algn="ctr" indent="0" marL="0">
              <a:lnSpc>
                <a:spcPct val="105000"/>
              </a:lnSpc>
              <a:buNone/>
            </a:pPr>
            <a:r>
              <a:rPr lang="en-US" sz="950" dirty="0">
                <a:solidFill>
                  <a:srgbClr val="5A6B66"/>
                </a:solidFill>
                <a:latin typeface="Calibri" pitchFamily="34" charset="0"/>
                <a:ea typeface="Calibri" pitchFamily="34" charset="-122"/>
                <a:cs typeface="Calibri" pitchFamily="34" charset="-120"/>
              </a:rPr>
              <a:t>Beta with real parents. Sign-off. Production.</a:t>
            </a:r>
            <a:endParaRPr lang="en-US" sz="950" dirty="0"/>
          </a:p>
        </p:txBody>
      </p:sp>
      <p:sp>
        <p:nvSpPr>
          <p:cNvPr id="33" name="Text 31"/>
          <p:cNvSpPr txBox="1"/>
          <p:nvPr/>
        </p:nvSpPr>
        <p:spPr>
          <a:xfrm>
            <a:off x="457200" y="3337560"/>
            <a:ext cx="8229600" cy="548640"/>
          </a:xfrm>
          <a:prstGeom prst="rect">
            <a:avLst/>
          </a:prstGeom>
          <a:noFill/>
          <a:ln/>
        </p:spPr>
        <p:txBody>
          <a:bodyPr wrap="square" lIns="0" tIns="0" rIns="0" bIns="0" rtlCol="0" anchor="ctr"/>
          <a:lstStyle/>
          <a:p>
            <a:pPr algn="ctr" indent="0" marL="0">
              <a:lnSpc>
                <a:spcPct val="110000"/>
              </a:lnSpc>
              <a:buNone/>
            </a:pPr>
            <a:r>
              <a:rPr lang="en-US" sz="1300" dirty="0">
                <a:solidFill>
                  <a:srgbClr val="1E3A34"/>
                </a:solidFill>
                <a:latin typeface="Calibri" pitchFamily="34" charset="0"/>
                <a:ea typeface="Calibri" pitchFamily="34" charset="-122"/>
                <a:cs typeface="Calibri" pitchFamily="34" charset="-120"/>
              </a:rPr>
              <a:t>The fever rules moved from week six to week three on purpose, so clinical review runs alongside the build instead of blocking the finish.</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3A34"/>
        </a:solidFill>
      </p:bgPr>
    </p:bg>
    <p:spTree>
      <p:nvGrpSpPr>
        <p:cNvPr id="1" name=""/>
        <p:cNvGrpSpPr/>
        <p:nvPr/>
      </p:nvGrpSpPr>
      <p:grpSpPr>
        <a:xfrm>
          <a:off x="0" y="0"/>
          <a:ext cx="0" cy="0"/>
          <a:chOff x="0" y="0"/>
          <a:chExt cx="0" cy="0"/>
        </a:xfrm>
      </p:grpSpPr>
      <p:sp>
        <p:nvSpPr>
          <p:cNvPr id="2" name="Shape 0"/>
          <p:cNvSpPr/>
          <p:nvPr/>
        </p:nvSpPr>
        <p:spPr>
          <a:xfrm>
            <a:off x="-1188720" y="3200400"/>
            <a:ext cx="3108960" cy="3108960"/>
          </a:xfrm>
          <a:prstGeom prst="ellipse">
            <a:avLst/>
          </a:prstGeom>
          <a:solidFill>
            <a:srgbClr val="7CA893">
              <a:alpha val="18000"/>
            </a:srgbClr>
          </a:solidFill>
          <a:ln w="12700">
            <a:solidFill>
              <a:srgbClr val="333333"/>
            </a:solidFill>
            <a:prstDash val="solid"/>
          </a:ln>
        </p:spPr>
      </p:sp>
      <p:sp>
        <p:nvSpPr>
          <p:cNvPr id="3" name="Text 1"/>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Where we are, and what is still open</a:t>
            </a:r>
            <a:endParaRPr lang="en-US" sz="3000" dirty="0"/>
          </a:p>
        </p:txBody>
      </p:sp>
      <p:sp>
        <p:nvSpPr>
          <p:cNvPr id="4" name="Text 2"/>
          <p:cNvSpPr txBox="1"/>
          <p:nvPr/>
        </p:nvSpPr>
        <p:spPr>
          <a:xfrm>
            <a:off x="548640" y="1234440"/>
            <a:ext cx="1874520" cy="64008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90</a:t>
            </a:r>
            <a:endParaRPr lang="en-US" sz="4000" dirty="0"/>
          </a:p>
        </p:txBody>
      </p:sp>
      <p:sp>
        <p:nvSpPr>
          <p:cNvPr id="5" name="Text 3"/>
          <p:cNvSpPr txBox="1"/>
          <p:nvPr/>
        </p:nvSpPr>
        <p:spPr>
          <a:xfrm>
            <a:off x="548640" y="1901952"/>
            <a:ext cx="1874520" cy="320040"/>
          </a:xfrm>
          <a:prstGeom prst="rect">
            <a:avLst/>
          </a:prstGeom>
          <a:noFill/>
          <a:ln/>
        </p:spPr>
        <p:txBody>
          <a:bodyPr wrap="square" lIns="0" tIns="0" rIns="0" bIns="0" rtlCol="0" anchor="ctr"/>
          <a:lstStyle/>
          <a:p>
            <a:pPr algn="ctr" indent="0" marL="0">
              <a:buNone/>
            </a:pPr>
            <a:r>
              <a:rPr lang="en-US" sz="1100" dirty="0">
                <a:solidFill>
                  <a:srgbClr val="7CA893"/>
                </a:solidFill>
                <a:latin typeface="Calibri" pitchFamily="34" charset="0"/>
                <a:ea typeface="Calibri" pitchFamily="34" charset="-122"/>
                <a:cs typeface="Calibri" pitchFamily="34" charset="-120"/>
              </a:rPr>
              <a:t>tasks on the board</a:t>
            </a:r>
            <a:endParaRPr lang="en-US" sz="1100" dirty="0"/>
          </a:p>
        </p:txBody>
      </p:sp>
      <p:sp>
        <p:nvSpPr>
          <p:cNvPr id="6" name="Text 4"/>
          <p:cNvSpPr txBox="1"/>
          <p:nvPr/>
        </p:nvSpPr>
        <p:spPr>
          <a:xfrm>
            <a:off x="2578608" y="1234440"/>
            <a:ext cx="1874520" cy="64008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19</a:t>
            </a:r>
            <a:endParaRPr lang="en-US" sz="4000" dirty="0"/>
          </a:p>
        </p:txBody>
      </p:sp>
      <p:sp>
        <p:nvSpPr>
          <p:cNvPr id="7" name="Text 5"/>
          <p:cNvSpPr txBox="1"/>
          <p:nvPr/>
        </p:nvSpPr>
        <p:spPr>
          <a:xfrm>
            <a:off x="2578608" y="1901952"/>
            <a:ext cx="1874520" cy="320040"/>
          </a:xfrm>
          <a:prstGeom prst="rect">
            <a:avLst/>
          </a:prstGeom>
          <a:noFill/>
          <a:ln/>
        </p:spPr>
        <p:txBody>
          <a:bodyPr wrap="square" lIns="0" tIns="0" rIns="0" bIns="0" rtlCol="0" anchor="ctr"/>
          <a:lstStyle/>
          <a:p>
            <a:pPr algn="ctr" indent="0" marL="0">
              <a:buNone/>
            </a:pPr>
            <a:r>
              <a:rPr lang="en-US" sz="1100" dirty="0">
                <a:solidFill>
                  <a:srgbClr val="7CA893"/>
                </a:solidFill>
                <a:latin typeface="Calibri" pitchFamily="34" charset="0"/>
                <a:ea typeface="Calibri" pitchFamily="34" charset="-122"/>
                <a:cs typeface="Calibri" pitchFamily="34" charset="-120"/>
              </a:rPr>
              <a:t>database tables live</a:t>
            </a:r>
            <a:endParaRPr lang="en-US" sz="1100" dirty="0"/>
          </a:p>
        </p:txBody>
      </p:sp>
      <p:sp>
        <p:nvSpPr>
          <p:cNvPr id="8" name="Text 6"/>
          <p:cNvSpPr txBox="1"/>
          <p:nvPr/>
        </p:nvSpPr>
        <p:spPr>
          <a:xfrm>
            <a:off x="4608576" y="1234440"/>
            <a:ext cx="1874520" cy="64008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48</a:t>
            </a:r>
            <a:endParaRPr lang="en-US" sz="4000" dirty="0"/>
          </a:p>
        </p:txBody>
      </p:sp>
      <p:sp>
        <p:nvSpPr>
          <p:cNvPr id="9" name="Text 7"/>
          <p:cNvSpPr txBox="1"/>
          <p:nvPr/>
        </p:nvSpPr>
        <p:spPr>
          <a:xfrm>
            <a:off x="4608576" y="1901952"/>
            <a:ext cx="1874520" cy="320040"/>
          </a:xfrm>
          <a:prstGeom prst="rect">
            <a:avLst/>
          </a:prstGeom>
          <a:noFill/>
          <a:ln/>
        </p:spPr>
        <p:txBody>
          <a:bodyPr wrap="square" lIns="0" tIns="0" rIns="0" bIns="0" rtlCol="0" anchor="ctr"/>
          <a:lstStyle/>
          <a:p>
            <a:pPr algn="ctr" indent="0" marL="0">
              <a:buNone/>
            </a:pPr>
            <a:r>
              <a:rPr lang="en-US" sz="1100" dirty="0">
                <a:solidFill>
                  <a:srgbClr val="7CA893"/>
                </a:solidFill>
                <a:latin typeface="Calibri" pitchFamily="34" charset="0"/>
                <a:ea typeface="Calibri" pitchFamily="34" charset="-122"/>
                <a:cs typeface="Calibri" pitchFamily="34" charset="-120"/>
              </a:rPr>
              <a:t>safety tests green</a:t>
            </a:r>
            <a:endParaRPr lang="en-US" sz="1100" dirty="0"/>
          </a:p>
        </p:txBody>
      </p:sp>
      <p:sp>
        <p:nvSpPr>
          <p:cNvPr id="10" name="Text 8"/>
          <p:cNvSpPr txBox="1"/>
          <p:nvPr/>
        </p:nvSpPr>
        <p:spPr>
          <a:xfrm>
            <a:off x="6638544" y="1234440"/>
            <a:ext cx="1874520" cy="64008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11" name="Text 9"/>
          <p:cNvSpPr txBox="1"/>
          <p:nvPr/>
        </p:nvSpPr>
        <p:spPr>
          <a:xfrm>
            <a:off x="6638544" y="1901952"/>
            <a:ext cx="1874520" cy="320040"/>
          </a:xfrm>
          <a:prstGeom prst="rect">
            <a:avLst/>
          </a:prstGeom>
          <a:noFill/>
          <a:ln/>
        </p:spPr>
        <p:txBody>
          <a:bodyPr wrap="square" lIns="0" tIns="0" rIns="0" bIns="0" rtlCol="0" anchor="ctr"/>
          <a:lstStyle/>
          <a:p>
            <a:pPr algn="ctr" indent="0" marL="0">
              <a:buNone/>
            </a:pPr>
            <a:r>
              <a:rPr lang="en-US" sz="1100" dirty="0">
                <a:solidFill>
                  <a:srgbClr val="7CA893"/>
                </a:solidFill>
                <a:latin typeface="Calibri" pitchFamily="34" charset="0"/>
                <a:ea typeface="Calibri" pitchFamily="34" charset="-122"/>
                <a:cs typeface="Calibri" pitchFamily="34" charset="-120"/>
              </a:rPr>
              <a:t>of six weeks in</a:t>
            </a:r>
            <a:endParaRPr lang="en-US" sz="1100" dirty="0"/>
          </a:p>
        </p:txBody>
      </p:sp>
      <p:sp>
        <p:nvSpPr>
          <p:cNvPr id="12" name="Text 10"/>
          <p:cNvSpPr txBox="1"/>
          <p:nvPr/>
        </p:nvSpPr>
        <p:spPr>
          <a:xfrm>
            <a:off x="548640" y="2377440"/>
            <a:ext cx="8046720" cy="365760"/>
          </a:xfrm>
          <a:prstGeom prst="rect">
            <a:avLst/>
          </a:prstGeom>
          <a:noFill/>
          <a:ln/>
        </p:spPr>
        <p:txBody>
          <a:bodyPr wrap="square" lIns="0" tIns="0" rIns="0" bIns="0" rtlCol="0" anchor="ctr"/>
          <a:lstStyle/>
          <a:p>
            <a:pPr indent="0" marL="0">
              <a:buNone/>
            </a:pPr>
            <a:r>
              <a:rPr lang="en-US" sz="1300" dirty="0">
                <a:solidFill>
                  <a:srgbClr val="C8DCD2"/>
                </a:solidFill>
                <a:latin typeface="Calibri" pitchFamily="34" charset="0"/>
                <a:ea typeface="Calibri" pitchFamily="34" charset="-122"/>
                <a:cs typeface="Calibri" pitchFamily="34" charset="-120"/>
              </a:rPr>
              <a:t>The repository is live and protected, the plan is written down, and developers pick up their first tickets this week.</a:t>
            </a:r>
            <a:endParaRPr lang="en-US" sz="1300" dirty="0"/>
          </a:p>
        </p:txBody>
      </p:sp>
      <p:sp>
        <p:nvSpPr>
          <p:cNvPr id="13" name="Shape 11"/>
          <p:cNvSpPr/>
          <p:nvPr/>
        </p:nvSpPr>
        <p:spPr>
          <a:xfrm>
            <a:off x="566928" y="3017520"/>
            <a:ext cx="274320" cy="274320"/>
          </a:xfrm>
          <a:prstGeom prst="ellipse">
            <a:avLst/>
          </a:prstGeom>
          <a:solidFill>
            <a:srgbClr val="E07A5F"/>
          </a:solidFill>
          <a:ln w="12700">
            <a:solidFill>
              <a:srgbClr val="E07A5F"/>
            </a:solidFill>
            <a:prstDash val="solid"/>
          </a:ln>
        </p:spPr>
      </p:sp>
      <p:sp>
        <p:nvSpPr>
          <p:cNvPr id="14" name="Text 12"/>
          <p:cNvSpPr txBox="1"/>
          <p:nvPr/>
        </p:nvSpPr>
        <p:spPr>
          <a:xfrm>
            <a:off x="566928" y="30175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5" name="Text 13"/>
          <p:cNvSpPr txBox="1"/>
          <p:nvPr/>
        </p:nvSpPr>
        <p:spPr>
          <a:xfrm>
            <a:off x="987552" y="2971800"/>
            <a:ext cx="758952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 pediatric clinical reviewer  </a:t>
            </a:r>
            <a:pPr indent="0" marL="0">
              <a:buNone/>
            </a:pPr>
            <a:r>
              <a:rPr lang="en-US" sz="1250" dirty="0">
                <a:solidFill>
                  <a:srgbClr val="C8DCD2"/>
                </a:solidFill>
                <a:latin typeface="Calibri" pitchFamily="34" charset="0"/>
                <a:ea typeface="Calibri" pitchFamily="34" charset="-122"/>
                <a:cs typeface="Calibri" pitchFamily="34" charset="-120"/>
              </a:rPr>
              <a:t>the launch gate on the Health tab, and the longest lead time we have</a:t>
            </a:r>
            <a:endParaRPr lang="en-US" sz="1250" dirty="0"/>
          </a:p>
        </p:txBody>
      </p:sp>
      <p:sp>
        <p:nvSpPr>
          <p:cNvPr id="16" name="Shape 14"/>
          <p:cNvSpPr/>
          <p:nvPr/>
        </p:nvSpPr>
        <p:spPr>
          <a:xfrm>
            <a:off x="566928" y="3474720"/>
            <a:ext cx="274320" cy="274320"/>
          </a:xfrm>
          <a:prstGeom prst="ellipse">
            <a:avLst/>
          </a:prstGeom>
          <a:solidFill>
            <a:srgbClr val="E07A5F"/>
          </a:solidFill>
          <a:ln w="12700">
            <a:solidFill>
              <a:srgbClr val="E07A5F"/>
            </a:solidFill>
            <a:prstDash val="solid"/>
          </a:ln>
        </p:spPr>
      </p:sp>
      <p:sp>
        <p:nvSpPr>
          <p:cNvPr id="17" name="Text 15"/>
          <p:cNvSpPr txBox="1"/>
          <p:nvPr/>
        </p:nvSpPr>
        <p:spPr>
          <a:xfrm>
            <a:off x="566928" y="34747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6"/>
          <p:cNvSpPr txBox="1"/>
          <p:nvPr/>
        </p:nvSpPr>
        <p:spPr>
          <a:xfrm>
            <a:off x="987552" y="3429000"/>
            <a:ext cx="758952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Legal sign-off on infant health data  </a:t>
            </a:r>
            <a:pPr indent="0" marL="0">
              <a:buNone/>
            </a:pPr>
            <a:r>
              <a:rPr lang="en-US" sz="1250" dirty="0">
                <a:solidFill>
                  <a:srgbClr val="C8DCD2"/>
                </a:solidFill>
                <a:latin typeface="Calibri" pitchFamily="34" charset="0"/>
                <a:ea typeface="Calibri" pitchFamily="34" charset="-122"/>
                <a:cs typeface="Calibri" pitchFamily="34" charset="-120"/>
              </a:rPr>
              <a:t>we store it under real accounts and nobody has confirmed we may</a:t>
            </a:r>
            <a:endParaRPr lang="en-US" sz="1250" dirty="0"/>
          </a:p>
        </p:txBody>
      </p:sp>
      <p:sp>
        <p:nvSpPr>
          <p:cNvPr id="19" name="Shape 17"/>
          <p:cNvSpPr/>
          <p:nvPr/>
        </p:nvSpPr>
        <p:spPr>
          <a:xfrm>
            <a:off x="566928" y="3931920"/>
            <a:ext cx="274320" cy="274320"/>
          </a:xfrm>
          <a:prstGeom prst="ellipse">
            <a:avLst/>
          </a:prstGeom>
          <a:solidFill>
            <a:srgbClr val="E07A5F"/>
          </a:solidFill>
          <a:ln w="12700">
            <a:solidFill>
              <a:srgbClr val="E07A5F"/>
            </a:solidFill>
            <a:prstDash val="solid"/>
          </a:ln>
        </p:spPr>
      </p:sp>
      <p:sp>
        <p:nvSpPr>
          <p:cNvPr id="20" name="Text 18"/>
          <p:cNvSpPr txBox="1"/>
          <p:nvPr/>
        </p:nvSpPr>
        <p:spPr>
          <a:xfrm>
            <a:off x="566928" y="39319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txBox="1"/>
          <p:nvPr/>
        </p:nvSpPr>
        <p:spPr>
          <a:xfrm>
            <a:off x="987552" y="3886200"/>
            <a:ext cx="758952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An owner for the infrastructure cost  </a:t>
            </a:r>
            <a:pPr indent="0" marL="0">
              <a:buNone/>
            </a:pPr>
            <a:r>
              <a:rPr lang="en-US" sz="1250" dirty="0">
                <a:solidFill>
                  <a:srgbClr val="C8DCD2"/>
                </a:solidFill>
                <a:latin typeface="Calibri" pitchFamily="34" charset="0"/>
                <a:ea typeface="Calibri" pitchFamily="34" charset="-122"/>
                <a:cs typeface="Calibri" pitchFamily="34" charset="-120"/>
              </a:rPr>
              <a:t>hosting, database and AI calls need a payer before week four</a:t>
            </a:r>
            <a:endParaRPr lang="en-US" sz="1250" dirty="0"/>
          </a:p>
        </p:txBody>
      </p:sp>
      <p:sp>
        <p:nvSpPr>
          <p:cNvPr id="22" name="Text 20"/>
          <p:cNvSpPr txBox="1"/>
          <p:nvPr/>
        </p:nvSpPr>
        <p:spPr>
          <a:xfrm>
            <a:off x="566928" y="4434840"/>
            <a:ext cx="8046720" cy="365760"/>
          </a:xfrm>
          <a:prstGeom prst="rect">
            <a:avLst/>
          </a:prstGeom>
          <a:noFill/>
          <a:ln/>
        </p:spPr>
        <p:txBody>
          <a:bodyPr wrap="square" lIns="0" tIns="0" rIns="0" bIns="0" rtlCol="0" anchor="ctr"/>
          <a:lstStyle/>
          <a:p>
            <a:pPr indent="0" marL="0">
              <a:buNone/>
            </a:pPr>
            <a:r>
              <a:rPr lang="en-US" sz="1300" i="1" dirty="0">
                <a:solidFill>
                  <a:srgbClr val="7CA893"/>
                </a:solidFill>
                <a:latin typeface="Calibri" pitchFamily="34" charset="0"/>
                <a:ea typeface="Calibri" pitchFamily="34" charset="-122"/>
                <a:cs typeface="Calibri" pitchFamily="34" charset="-120"/>
              </a:rPr>
              <a:t>None of these blocks us this week. All three block the demo.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BumpToBloom - Tech Stack, Architecture and Team</dc:title>
  <dc:subject>PptxGenJS Presentation</dc:subject>
  <dc:creator>Sonakshi Panda</dc:creator>
  <cp:lastModifiedBy>Sonakshi Panda</cp:lastModifiedBy>
  <cp:revision>1</cp:revision>
  <dcterms:created xsi:type="dcterms:W3CDTF">2026-08-29T05:08:14Z</dcterms:created>
  <dcterms:modified xsi:type="dcterms:W3CDTF">2026-08-29T05:08:14Z</dcterms:modified>
</cp:coreProperties>
</file>